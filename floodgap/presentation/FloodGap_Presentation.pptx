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9" r:id="rId3"/>
    <p:sldId id="276" r:id="rId4"/>
    <p:sldId id="261" r:id="rId5"/>
    <p:sldId id="262" r:id="rId6"/>
    <p:sldId id="264" r:id="rId7"/>
    <p:sldId id="265" r:id="rId8"/>
    <p:sldId id="266" r:id="rId9"/>
    <p:sldId id="267" r:id="rId10"/>
    <p:sldId id="268" r:id="rId11"/>
    <p:sldId id="269" r:id="rId12"/>
    <p:sldId id="270"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6622" autoAdjust="0"/>
  </p:normalViewPr>
  <p:slideViewPr>
    <p:cSldViewPr snapToGrid="0" snapToObjects="1">
      <p:cViewPr varScale="1">
        <p:scale>
          <a:sx n="121" d="100"/>
          <a:sy n="121" d="100"/>
        </p:scale>
        <p:origin x="485" y="9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09940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someone funds 20 new water-level sensors for Houston, where are the 20 most ideal locations?</a:t>
            </a:r>
          </a:p>
          <a:p>
            <a:r>
              <a:rPr lang="en-US" dirty="0"/>
              <a:t>The idea came from CEAR Hub — they installed sea-level sensors around Savannah to monitor water levels. When I saw this, I thought: this is really powerful for flood control.
And my immediate question was — can this transfer to other cities? I live in Houston. Houston gets hit by multiple kinds of flooding — tidal near Galveston, stormwater inland. So the idea of FloodGap started there: bring the sensor idea to a new city.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That's the question the whole project tries to answer.</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started simple, with two layers. First, NOAA tide data — flood day. Second, social vulnerability from CDC, because where flooding is equally likely, vulnerable communities suffer more.
1</a:t>
            </a:r>
            <a:r>
              <a:rPr lang="en-US" baseline="30000" dirty="0"/>
              <a:t>st</a:t>
            </a:r>
            <a:r>
              <a:rPr lang="en-US" dirty="0"/>
              <a:t> is NOAA stations are so sparse that every tract on the Georgia coast shared literally the same flood-day number. So I added USGS elevation — low-lying ground floods first — and that restored the local variation NOAA couldn't give.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Then Kait shared a paper with me — by a previous PhD student in the group, on the exact same Savannah network. Their approach: five siting parameters, about 29,000 candidate points, Pareto optimization down to 381 points, and then experts and county officials narrow it down step by step.
So I set my plan: borrow their factors, build a weighted-score model, validate it against CEAR Hub's existing sensors — and if it holds in Savannah, apply it to Houston.</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then problem number one. The current sensors— they were installed 6 to 8 years ago based on feasibility. Easy to reach, near a waterway, something to mount the device on. And the deployment was never even completed.
So using them to validate my model isn't actually valid. There is no 'correct answer' to fit against. It shows the existing network is feasibility-limited and systematically </a:t>
            </a:r>
            <a:r>
              <a:rPr lang="en-US"/>
              <a:t>misses high-risk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number two: transfer. Savannah's flooding is more than 90% tidal. Houston is different — it floods three ways. Tidal near Galveston Bay. Stormwater inland, where rain can't drain out fast enough. And riverine — the bayous like Buffalo Bayou, which back up during storms and flood the areas around them.
When I applied the Savannah-style, tidal-only model to Houston — this map — every priority landed on the coast. Galveston tracts entered the top 50 at thirty times the rate of Harris County. But think about Harvey: the disaster was INLAND. The model was blind to exactly the flooding Houston is famous for. So I upgraded the flood factor into a compound flood score with three components. Tidal — same as before. Stormwater — I used NOAA C-CAP impervious surface data, because pavement is what turns rain into street flooding; that's Harvey's mechanism. And riverine — distance to the eleven major bayous.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 转折页,讲清楚)
Here's the pivot. I realized nobody has a validated set of weights — not the paper, which deliberately avoided weights using Pareto; not the experts, whose placements were feasibility-driven.
So instead of guessing weights and pretending they're correct, I made the weights themselves the research object. I got flexible.
If you care most about tidal risk — here are your top 20. If you care about stormwater — different top 20. If you emphasize vulnerable communities — different again. Weights become policy options. And the most valuable output becomes: which places matter under EVERY priority.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So I built five weighting schemes. A is tidal-only — the Savannah logic. B treats all three flood types equally. C is Harvey-informed — stormwater gets double weight. D says hazard dominates over vulnerability, 80-20. E is equity-forward — vulnerability equal to hazard, 50-50.
Look at the Harris-Galveston split: tidal-only puts 47 of the top 50 in Galveston. Every compound scheme flips the map inland. The weights genuinely change the answer — which is exactly why they should be shown as explicit choices, not hidden inside the model.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 结果页)
Then I overlaid all five maps. The color shows how many schemes put each tract in the top 50.
Only 2 tracts out of 1,211 are chosen by every single scheme — both in Texas City / La Marque. Twenty-eight more appear in four of five.
And they organize into four robust clusters: Texas City — the only region in ALL five schemes, tidal surge plus high vulnerability. Gulfton — the largest cluster, four of five. East End on the Ship Channel. And Kashmere / Fifth Ward — the highest social vulnerability in the study area, 0.91.
These clusters are the core answer: places that need monitoring no matter which priority you choose.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
And now the current stage: zooming into these clusters. This is Gulfton — under Harvey-informed weights, 17 of the top 20 tracts in the whole region sit right here. It's a 1960s garden-apartment district, the most impervious cluster in the study area, dense immigrant renter communities near Brays Bayou — it flooded in Allison, Memorial Day, Tax Day, and Harvey.
Each cluster's character also tells you WHICH sensor. Tidal and riverine clusters — Texas City, East End — need water-level sensors on bridges and dikes, like CEAR Hub's. But stormwater clusters like Gulfton have no waterway — there, you use street-light sensors: an ultrasonic unit pointing down from a light pole, measuring street ponding. NYC's FloodNet uses these; a few hundred dollars each.
Same model output, two different technologies — matched automatically by each site's dominant flood component.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a:t>
            </a:r>
          </a:p>
          <a:p>
            <a:r>
              <a:t>So what comes next for Houston? Four concrete steps.</a:t>
            </a:r>
          </a:p>
          <a:p>
            <a:endParaRPr/>
          </a:p>
          <a:p>
            <a:r>
              <a:t>First, fine-grain inside each cluster. I will re-run the scoring at block-group level inside Gulfton, Texas City, East End and Kashmere, and rank streets and intersections using 311 flooding complaints and HCFCD flood history.</a:t>
            </a:r>
          </a:p>
          <a:p>
            <a:endParaRPr/>
          </a:p>
          <a:p>
            <a:r>
              <a:t>Second, a desktop pre-screen. For the top blocks, I use Street View and drainage records to shortlist 3 to 5 exact light poles or bridges per cluster, and check pole ownership and cell signal.</a:t>
            </a:r>
          </a:p>
          <a:p>
            <a:endParaRPr/>
          </a:p>
          <a:p>
            <a:r>
              <a:t>Third, field reconnaissance. I visit the shortlisted sites with a structured checklist: street low points, stain lines, storm inlets, mounting structures. And this is home turf for me, site survey is literally my day job as a landscape architect.</a:t>
            </a:r>
          </a:p>
          <a:p>
            <a:endParaRPr/>
          </a:p>
          <a:p>
            <a:r>
              <a:t>Fourth, test against known gaps. The team has areas they wanted to monitor but could not install in. Comparing my model picks against those, and sharing results with Houston emergency management, gives real-world feedback on whether the model finds the right places.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sec)
And the bigger picture. This cluster-finding method is not Houston-specific. Point it at Florida, or any coastal region, and it can surface the most at-risk counties and communities — under whatever priorities the decision-maker cares about.
For students, nonprofits, or agencies, that means quickly understanding a huge region: where to look first, where to protect first, where to measure first.
From one city's sensor question to a reusable screening tool — that's where this research wants to go.</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(收尾 15 sec)
So — FloodGap. The gap between where sensors are, and where they should be.
Thank you, happy to take questions.
(可能被问的问题:
1. 权重敏感性怎么做的 → 五方案+叠加,只有2/1211全票
2. 为什么不用Pareto → paper输出381个点不是top20;我需要ranked结果;且权重作为政策选项更透明
3. C-CAP数据怎么处理 → 30m栅格,tract中心1km窗口,developed类系数加权
4. 下一步验证 → 实地考察+教授的5个'想装没装成'区域)</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C3D5E"/>
        </a:solidFill>
        <a:effectLst/>
      </p:bgPr>
    </p:bg>
    <p:spTree>
      <p:nvGrpSpPr>
        <p:cNvPr id="1" name=""/>
        <p:cNvGrpSpPr/>
        <p:nvPr/>
      </p:nvGrpSpPr>
      <p:grpSpPr>
        <a:xfrm>
          <a:off x="0" y="0"/>
          <a:ext cx="0" cy="0"/>
          <a:chOff x="0" y="0"/>
          <a:chExt cx="0" cy="0"/>
        </a:xfrm>
      </p:grpSpPr>
      <p:sp>
        <p:nvSpPr>
          <p:cNvPr id="2" name="Text 0"/>
          <p:cNvSpPr/>
          <p:nvPr/>
        </p:nvSpPr>
        <p:spPr>
          <a:xfrm>
            <a:off x="822960" y="1645920"/>
            <a:ext cx="10515600" cy="1005840"/>
          </a:xfrm>
          <a:prstGeom prst="rect">
            <a:avLst/>
          </a:prstGeom>
          <a:noFill/>
          <a:ln/>
        </p:spPr>
        <p:txBody>
          <a:bodyPr wrap="square" lIns="0" tIns="0" rIns="0" bIns="0" rtlCol="0" anchor="ctr"/>
          <a:lstStyle/>
          <a:p>
            <a:pPr marL="0" indent="0">
              <a:buNone/>
            </a:pPr>
            <a:r>
              <a:rPr lang="en-US" sz="5800" b="1" dirty="0">
                <a:solidFill>
                  <a:srgbClr val="FFFFFF"/>
                </a:solidFill>
                <a:latin typeface="Georgia" pitchFamily="34" charset="0"/>
                <a:ea typeface="Georgia" pitchFamily="34" charset="-122"/>
                <a:cs typeface="Georgia" pitchFamily="34" charset="-120"/>
              </a:rPr>
              <a:t>FloodGap</a:t>
            </a:r>
            <a:endParaRPr lang="en-US" sz="5800" dirty="0"/>
          </a:p>
        </p:txBody>
      </p:sp>
      <p:sp>
        <p:nvSpPr>
          <p:cNvPr id="3" name="Text 1"/>
          <p:cNvSpPr/>
          <p:nvPr/>
        </p:nvSpPr>
        <p:spPr>
          <a:xfrm>
            <a:off x="822960" y="2842846"/>
            <a:ext cx="10515600" cy="594360"/>
          </a:xfrm>
          <a:prstGeom prst="rect">
            <a:avLst/>
          </a:prstGeom>
          <a:noFill/>
          <a:ln/>
        </p:spPr>
        <p:txBody>
          <a:bodyPr wrap="square" lIns="0" tIns="0" rIns="0" bIns="0" rtlCol="0" anchor="ctr"/>
          <a:lstStyle/>
          <a:p>
            <a:pPr>
              <a:lnSpc>
                <a:spcPct val="120000"/>
              </a:lnSpc>
            </a:pPr>
            <a:r>
              <a:rPr lang="en-US" sz="2000" dirty="0">
                <a:solidFill>
                  <a:srgbClr val="7FC3DD"/>
                </a:solidFill>
                <a:latin typeface="Georgia" pitchFamily="34" charset="0"/>
              </a:rPr>
              <a:t>If Houston had funding for 20 new sensors, where are the 20 most ideal places to put them?</a:t>
            </a:r>
          </a:p>
          <a:p>
            <a:pPr marL="0" indent="0">
              <a:buNone/>
            </a:pPr>
            <a:endParaRPr lang="en-US" sz="2300" dirty="0"/>
          </a:p>
        </p:txBody>
      </p:sp>
      <p:sp>
        <p:nvSpPr>
          <p:cNvPr id="4" name="Shape 2"/>
          <p:cNvSpPr/>
          <p:nvPr/>
        </p:nvSpPr>
        <p:spPr>
          <a:xfrm>
            <a:off x="868680" y="4103077"/>
            <a:ext cx="2377440" cy="0"/>
          </a:xfrm>
          <a:prstGeom prst="line">
            <a:avLst/>
          </a:prstGeom>
          <a:noFill/>
          <a:ln w="38100">
            <a:solidFill>
              <a:srgbClr val="C77B0A"/>
            </a:solidFill>
            <a:prstDash val="solid"/>
          </a:ln>
        </p:spPr>
        <p:txBody>
          <a:bodyPr/>
          <a:lstStyle/>
          <a:p>
            <a:endParaRPr lang="en-US"/>
          </a:p>
        </p:txBody>
      </p:sp>
      <p:sp>
        <p:nvSpPr>
          <p:cNvPr id="5" name="Text 3"/>
          <p:cNvSpPr/>
          <p:nvPr/>
        </p:nvSpPr>
        <p:spPr>
          <a:xfrm>
            <a:off x="822960" y="4285957"/>
            <a:ext cx="10515600" cy="457200"/>
          </a:xfrm>
          <a:prstGeom prst="rect">
            <a:avLst/>
          </a:prstGeom>
          <a:noFill/>
          <a:ln/>
        </p:spPr>
        <p:txBody>
          <a:bodyPr wrap="square" lIns="0" tIns="0" rIns="0" bIns="0" rtlCol="0" anchor="ctr"/>
          <a:lstStyle/>
          <a:p>
            <a:pPr marL="0" indent="0">
              <a:buNone/>
            </a:pPr>
            <a:r>
              <a:rPr lang="en-US" sz="1450" dirty="0">
                <a:solidFill>
                  <a:srgbClr val="C9DCE6"/>
                </a:solidFill>
                <a:latin typeface="Calibri" pitchFamily="34" charset="0"/>
                <a:ea typeface="Calibri" pitchFamily="34" charset="-122"/>
                <a:cs typeface="Calibri" pitchFamily="34" charset="-120"/>
              </a:rPr>
              <a:t>A sensor-siting model inspired by Savannah's CEAR Hub, applied to Houston</a:t>
            </a:r>
            <a:endParaRPr lang="en-US" sz="1450" dirty="0"/>
          </a:p>
        </p:txBody>
      </p:sp>
      <p:sp>
        <p:nvSpPr>
          <p:cNvPr id="6" name="Text 4"/>
          <p:cNvSpPr/>
          <p:nvPr/>
        </p:nvSpPr>
        <p:spPr>
          <a:xfrm>
            <a:off x="822960" y="5943600"/>
            <a:ext cx="10515600" cy="365760"/>
          </a:xfrm>
          <a:prstGeom prst="rect">
            <a:avLst/>
          </a:prstGeom>
          <a:noFill/>
          <a:ln/>
        </p:spPr>
        <p:txBody>
          <a:bodyPr wrap="square" lIns="0" tIns="0" rIns="0" bIns="0" rtlCol="0" anchor="ctr"/>
          <a:lstStyle/>
          <a:p>
            <a:pPr marL="0" indent="0">
              <a:buNone/>
            </a:pPr>
            <a:r>
              <a:rPr lang="en-US" sz="1200" i="1" dirty="0">
                <a:solidFill>
                  <a:srgbClr val="5C7A92"/>
                </a:solidFill>
                <a:latin typeface="Calibri" pitchFamily="34" charset="0"/>
                <a:ea typeface="Calibri" pitchFamily="34" charset="-122"/>
                <a:cs typeface="Calibri" pitchFamily="34" charset="-120"/>
              </a:rPr>
              <a:t>Georgia Tech VIP · Coastal Georgia Climate Solutions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155680" cy="548640"/>
          </a:xfrm>
          <a:prstGeom prst="rect">
            <a:avLst/>
          </a:prstGeom>
          <a:noFill/>
          <a:ln/>
        </p:spPr>
        <p:txBody>
          <a:bodyPr wrap="square" lIns="0" tIns="0" rIns="0" bIns="0" rtlCol="0" anchor="ctr"/>
          <a:lstStyle/>
          <a:p>
            <a:pPr marL="0" indent="0">
              <a:buNone/>
            </a:pPr>
            <a:r>
              <a:rPr lang="en-US" sz="2500" b="1" dirty="0">
                <a:solidFill>
                  <a:srgbClr val="0C3D5E"/>
                </a:solidFill>
                <a:latin typeface="Georgia" pitchFamily="34" charset="0"/>
                <a:ea typeface="Georgia" pitchFamily="34" charset="-122"/>
                <a:cs typeface="Georgia" pitchFamily="34" charset="-120"/>
              </a:rPr>
              <a:t>Starting Simple: Two Layers</a:t>
            </a:r>
            <a:endParaRPr lang="en-US" sz="2500" dirty="0"/>
          </a:p>
        </p:txBody>
      </p:sp>
      <p:sp>
        <p:nvSpPr>
          <p:cNvPr id="3" name="Text 1"/>
          <p:cNvSpPr/>
          <p:nvPr/>
        </p:nvSpPr>
        <p:spPr>
          <a:xfrm>
            <a:off x="548640" y="859536"/>
            <a:ext cx="11155680" cy="384048"/>
          </a:xfrm>
          <a:prstGeom prst="rect">
            <a:avLst/>
          </a:prstGeom>
          <a:noFill/>
          <a:ln/>
        </p:spPr>
        <p:txBody>
          <a:bodyPr wrap="square" lIns="0" tIns="0" rIns="0" bIns="0" rtlCol="0" anchor="ctr"/>
          <a:lstStyle/>
          <a:p>
            <a:pPr marL="0" indent="0">
              <a:buNone/>
            </a:pPr>
            <a:r>
              <a:rPr lang="en-US" sz="1350" i="1" dirty="0">
                <a:solidFill>
                  <a:srgbClr val="5C6B73"/>
                </a:solidFill>
                <a:latin typeface="Calibri" pitchFamily="34" charset="0"/>
                <a:ea typeface="Calibri" pitchFamily="34" charset="-122"/>
                <a:cs typeface="Calibri" pitchFamily="34" charset="-120"/>
              </a:rPr>
              <a:t>NOAA tide data + social vulnerability</a:t>
            </a:r>
            <a:endParaRPr lang="en-US" sz="1350" dirty="0"/>
          </a:p>
        </p:txBody>
      </p:sp>
      <p:sp>
        <p:nvSpPr>
          <p:cNvPr id="4" name="Shape 2"/>
          <p:cNvSpPr/>
          <p:nvPr/>
        </p:nvSpPr>
        <p:spPr>
          <a:xfrm>
            <a:off x="640080" y="1600200"/>
            <a:ext cx="5303520" cy="2011680"/>
          </a:xfrm>
          <a:prstGeom prst="rect">
            <a:avLst/>
          </a:prstGeom>
          <a:solidFill>
            <a:srgbClr val="EEF3F6"/>
          </a:solidFill>
          <a:ln w="16510">
            <a:solidFill>
              <a:srgbClr val="2E6DA4"/>
            </a:solidFill>
            <a:prstDash val="solid"/>
          </a:ln>
          <a:effectLst>
            <a:outerShdw blurRad="63500" dist="25400" dir="5400000" algn="bl" rotWithShape="0">
              <a:srgbClr val="9DB0BA">
                <a:alpha val="35000"/>
              </a:srgbClr>
            </a:outerShdw>
          </a:effectLst>
        </p:spPr>
        <p:txBody>
          <a:bodyPr/>
          <a:lstStyle/>
          <a:p>
            <a:endParaRPr lang="en-US"/>
          </a:p>
        </p:txBody>
      </p:sp>
      <p:sp>
        <p:nvSpPr>
          <p:cNvPr id="5" name="Shape 3"/>
          <p:cNvSpPr/>
          <p:nvPr/>
        </p:nvSpPr>
        <p:spPr>
          <a:xfrm>
            <a:off x="640080" y="1600200"/>
            <a:ext cx="5303520" cy="502920"/>
          </a:xfrm>
          <a:prstGeom prst="rect">
            <a:avLst/>
          </a:prstGeom>
          <a:solidFill>
            <a:srgbClr val="2E6DA4"/>
          </a:solidFill>
          <a:ln/>
        </p:spPr>
        <p:txBody>
          <a:bodyPr/>
          <a:lstStyle/>
          <a:p>
            <a:endParaRPr lang="en-US"/>
          </a:p>
        </p:txBody>
      </p:sp>
      <p:sp>
        <p:nvSpPr>
          <p:cNvPr id="6" name="Text 4"/>
          <p:cNvSpPr/>
          <p:nvPr/>
        </p:nvSpPr>
        <p:spPr>
          <a:xfrm>
            <a:off x="868680" y="1600200"/>
            <a:ext cx="48463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Layer 1: NOAA flood days</a:t>
            </a:r>
            <a:endParaRPr lang="en-US" sz="1350" dirty="0"/>
          </a:p>
        </p:txBody>
      </p:sp>
      <p:sp>
        <p:nvSpPr>
          <p:cNvPr id="7" name="Text 5"/>
          <p:cNvSpPr/>
          <p:nvPr/>
        </p:nvSpPr>
        <p:spPr>
          <a:xfrm>
            <a:off x="868680" y="2212848"/>
            <a:ext cx="4846320" cy="1280160"/>
          </a:xfrm>
          <a:prstGeom prst="rect">
            <a:avLst/>
          </a:prstGeom>
          <a:noFill/>
          <a:ln/>
        </p:spPr>
        <p:txBody>
          <a:bodyPr wrap="square" lIns="0" tIns="0" rIns="0" bIns="0" rtlCol="0" anchor="t"/>
          <a:lstStyle/>
          <a:p>
            <a:pPr marL="0" indent="0">
              <a:lnSpc>
                <a:spcPct val="110000"/>
              </a:lnSpc>
              <a:buNone/>
            </a:pPr>
            <a:r>
              <a:rPr lang="en-US" sz="1400" dirty="0">
                <a:solidFill>
                  <a:srgbClr val="1A2933"/>
                </a:solidFill>
                <a:latin typeface="Calibri" pitchFamily="34" charset="0"/>
                <a:ea typeface="Calibri" pitchFamily="34" charset="-122"/>
                <a:cs typeface="Calibri" pitchFamily="34" charset="-120"/>
              </a:rPr>
              <a:t>High-tide flooding days from NOAA tide stations.</a:t>
            </a:r>
            <a:endParaRPr lang="en-US" sz="1400" dirty="0"/>
          </a:p>
        </p:txBody>
      </p:sp>
      <p:sp>
        <p:nvSpPr>
          <p:cNvPr id="8" name="Shape 6"/>
          <p:cNvSpPr/>
          <p:nvPr/>
        </p:nvSpPr>
        <p:spPr>
          <a:xfrm>
            <a:off x="6217920" y="1600200"/>
            <a:ext cx="5303520" cy="2011680"/>
          </a:xfrm>
          <a:prstGeom prst="rect">
            <a:avLst/>
          </a:prstGeom>
          <a:solidFill>
            <a:srgbClr val="EEF3F6"/>
          </a:solidFill>
          <a:ln w="16510">
            <a:solidFill>
              <a:srgbClr val="B5532E"/>
            </a:solidFill>
            <a:prstDash val="solid"/>
          </a:ln>
          <a:effectLst>
            <a:outerShdw blurRad="63500" dist="25400" dir="5400000" algn="bl" rotWithShape="0">
              <a:srgbClr val="9DB0BA">
                <a:alpha val="35000"/>
              </a:srgbClr>
            </a:outerShdw>
          </a:effectLst>
        </p:spPr>
        <p:txBody>
          <a:bodyPr/>
          <a:lstStyle/>
          <a:p>
            <a:endParaRPr lang="en-US"/>
          </a:p>
        </p:txBody>
      </p:sp>
      <p:sp>
        <p:nvSpPr>
          <p:cNvPr id="9" name="Shape 7"/>
          <p:cNvSpPr/>
          <p:nvPr/>
        </p:nvSpPr>
        <p:spPr>
          <a:xfrm>
            <a:off x="6217920" y="1600200"/>
            <a:ext cx="5303520" cy="502920"/>
          </a:xfrm>
          <a:prstGeom prst="rect">
            <a:avLst/>
          </a:prstGeom>
          <a:solidFill>
            <a:srgbClr val="B5532E"/>
          </a:solidFill>
          <a:ln/>
        </p:spPr>
        <p:txBody>
          <a:bodyPr/>
          <a:lstStyle/>
          <a:p>
            <a:endParaRPr lang="en-US"/>
          </a:p>
        </p:txBody>
      </p:sp>
      <p:sp>
        <p:nvSpPr>
          <p:cNvPr id="10" name="Text 8"/>
          <p:cNvSpPr/>
          <p:nvPr/>
        </p:nvSpPr>
        <p:spPr>
          <a:xfrm>
            <a:off x="6446520" y="1600200"/>
            <a:ext cx="4846320" cy="50292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Layer 2: Social vulnerability (CDC SVI)</a:t>
            </a:r>
            <a:endParaRPr lang="en-US" sz="1350" dirty="0"/>
          </a:p>
        </p:txBody>
      </p:sp>
      <p:sp>
        <p:nvSpPr>
          <p:cNvPr id="11" name="Text 9"/>
          <p:cNvSpPr/>
          <p:nvPr/>
        </p:nvSpPr>
        <p:spPr>
          <a:xfrm>
            <a:off x="6446520" y="2212848"/>
            <a:ext cx="4846320" cy="1280160"/>
          </a:xfrm>
          <a:prstGeom prst="rect">
            <a:avLst/>
          </a:prstGeom>
          <a:noFill/>
          <a:ln/>
        </p:spPr>
        <p:txBody>
          <a:bodyPr wrap="square" lIns="0" tIns="0" rIns="0" bIns="0" rtlCol="0" anchor="t"/>
          <a:lstStyle/>
          <a:p>
            <a:pPr marL="0" indent="0">
              <a:lnSpc>
                <a:spcPct val="110000"/>
              </a:lnSpc>
              <a:buNone/>
            </a:pPr>
            <a:r>
              <a:rPr lang="en-US" sz="1400" dirty="0">
                <a:solidFill>
                  <a:srgbClr val="1A2933"/>
                </a:solidFill>
                <a:latin typeface="Calibri" pitchFamily="34" charset="0"/>
                <a:ea typeface="Calibri" pitchFamily="34" charset="-122"/>
                <a:cs typeface="Calibri" pitchFamily="34" charset="-120"/>
              </a:rPr>
              <a:t>Where flooding is equally likely, vulnerable communities suffer more and recover slower.</a:t>
            </a:r>
            <a:endParaRPr lang="en-US" sz="1400" dirty="0"/>
          </a:p>
        </p:txBody>
      </p:sp>
      <p:sp>
        <p:nvSpPr>
          <p:cNvPr id="12" name="Shape 10"/>
          <p:cNvSpPr/>
          <p:nvPr/>
        </p:nvSpPr>
        <p:spPr>
          <a:xfrm>
            <a:off x="640080" y="3977640"/>
            <a:ext cx="10881360" cy="1737360"/>
          </a:xfrm>
          <a:prstGeom prst="rect">
            <a:avLst/>
          </a:prstGeom>
          <a:solidFill>
            <a:srgbClr val="0C3D5E"/>
          </a:solidFill>
          <a:ln/>
          <a:effectLst>
            <a:outerShdw blurRad="63500" dist="25400" dir="5400000" algn="bl" rotWithShape="0">
              <a:srgbClr val="9DB0BA">
                <a:alpha val="35000"/>
              </a:srgbClr>
            </a:outerShdw>
          </a:effectLst>
        </p:spPr>
        <p:txBody>
          <a:bodyPr/>
          <a:lstStyle/>
          <a:p>
            <a:endParaRPr lang="en-US"/>
          </a:p>
        </p:txBody>
      </p:sp>
      <p:sp>
        <p:nvSpPr>
          <p:cNvPr id="13" name="Text 11"/>
          <p:cNvSpPr/>
          <p:nvPr/>
        </p:nvSpPr>
        <p:spPr>
          <a:xfrm>
            <a:off x="914400" y="3977640"/>
            <a:ext cx="10332720" cy="1737360"/>
          </a:xfrm>
          <a:prstGeom prst="rect">
            <a:avLst/>
          </a:prstGeom>
          <a:noFill/>
          <a:ln/>
        </p:spPr>
        <p:txBody>
          <a:bodyPr wrap="square" lIns="0" tIns="0" rIns="0" bIns="0" rtlCol="0" anchor="ctr"/>
          <a:lstStyle/>
          <a:p>
            <a:pPr marL="0" indent="0">
              <a:lnSpc>
                <a:spcPct val="118000"/>
              </a:lnSpc>
              <a:buNone/>
            </a:pPr>
            <a:r>
              <a:rPr lang="en-US" sz="1450" b="1" dirty="0">
                <a:solidFill>
                  <a:srgbClr val="F0CF8E"/>
                </a:solidFill>
                <a:latin typeface="Calibri" pitchFamily="34" charset="0"/>
                <a:ea typeface="Calibri" pitchFamily="34" charset="-122"/>
                <a:cs typeface="Calibri" pitchFamily="34" charset="-120"/>
              </a:rPr>
              <a:t>First lesson:  </a:t>
            </a:r>
            <a:r>
              <a:rPr lang="en-US" sz="1450" dirty="0">
                <a:solidFill>
                  <a:srgbClr val="FFFFFF"/>
                </a:solidFill>
                <a:latin typeface="Calibri" pitchFamily="34" charset="0"/>
                <a:ea typeface="Calibri" pitchFamily="34" charset="-122"/>
                <a:cs typeface="Calibri" pitchFamily="34" charset="-120"/>
              </a:rPr>
              <a:t>NOAA stations are so sparse that all 174 coastal Georgia tracts shared ONE flood-day value. No variation = no ranking. The fix: add USGS elevation, which restores real tract-by-tract flood variation.</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2"/>
          <p:cNvSpPr/>
          <p:nvPr/>
        </p:nvSpPr>
        <p:spPr>
          <a:xfrm>
            <a:off x="731520" y="1228922"/>
            <a:ext cx="2743200" cy="32004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Parameter</a:t>
            </a:r>
            <a:endParaRPr lang="en-US" sz="1600" dirty="0"/>
          </a:p>
        </p:txBody>
      </p:sp>
      <p:sp>
        <p:nvSpPr>
          <p:cNvPr id="5" name="Text 3"/>
          <p:cNvSpPr/>
          <p:nvPr/>
        </p:nvSpPr>
        <p:spPr>
          <a:xfrm>
            <a:off x="3443188" y="1228922"/>
            <a:ext cx="3474720" cy="32004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Paper (Savannah)</a:t>
            </a:r>
            <a:endParaRPr lang="en-US" sz="1600" dirty="0"/>
          </a:p>
        </p:txBody>
      </p:sp>
      <p:sp>
        <p:nvSpPr>
          <p:cNvPr id="6" name="Text 4"/>
          <p:cNvSpPr/>
          <p:nvPr/>
        </p:nvSpPr>
        <p:spPr>
          <a:xfrm>
            <a:off x="6722416" y="1228922"/>
            <a:ext cx="4114800" cy="320040"/>
          </a:xfrm>
          <a:prstGeom prst="rect">
            <a:avLst/>
          </a:prstGeom>
          <a:noFill/>
          <a:ln/>
        </p:spPr>
        <p:txBody>
          <a:bodyPr wrap="square" lIns="0" tIns="0" rIns="0" bIns="0" rtlCol="0" anchor="ctr"/>
          <a:lstStyle/>
          <a:p>
            <a:pPr marL="0" indent="0">
              <a:buNone/>
            </a:pPr>
            <a:r>
              <a:rPr lang="en-US" sz="1600" b="1" dirty="0">
                <a:solidFill>
                  <a:srgbClr val="1C7293"/>
                </a:solidFill>
                <a:latin typeface="Calibri" pitchFamily="34" charset="0"/>
                <a:ea typeface="Calibri" pitchFamily="34" charset="-122"/>
                <a:cs typeface="Calibri" pitchFamily="34" charset="-120"/>
              </a:rPr>
              <a:t>Houston adaptation</a:t>
            </a:r>
            <a:endParaRPr lang="en-US" sz="1600" dirty="0"/>
          </a:p>
        </p:txBody>
      </p:sp>
      <p:sp>
        <p:nvSpPr>
          <p:cNvPr id="7" name="Shape 5"/>
          <p:cNvSpPr/>
          <p:nvPr/>
        </p:nvSpPr>
        <p:spPr>
          <a:xfrm>
            <a:off x="640080" y="1623060"/>
            <a:ext cx="10881360" cy="841248"/>
          </a:xfrm>
          <a:prstGeom prst="rect">
            <a:avLst/>
          </a:prstGeom>
          <a:solidFill>
            <a:srgbClr val="EEF3F6"/>
          </a:solidFill>
          <a:ln w="6350">
            <a:solidFill>
              <a:srgbClr val="E0E7EC"/>
            </a:solidFill>
            <a:prstDash val="solid"/>
          </a:ln>
        </p:spPr>
        <p:txBody>
          <a:bodyPr/>
          <a:lstStyle/>
          <a:p>
            <a:endParaRPr lang="en-US"/>
          </a:p>
        </p:txBody>
      </p:sp>
      <p:sp>
        <p:nvSpPr>
          <p:cNvPr id="8" name="Shape 6"/>
          <p:cNvSpPr/>
          <p:nvPr/>
        </p:nvSpPr>
        <p:spPr>
          <a:xfrm>
            <a:off x="640080" y="1623060"/>
            <a:ext cx="73152" cy="841248"/>
          </a:xfrm>
          <a:prstGeom prst="rect">
            <a:avLst/>
          </a:prstGeom>
          <a:solidFill>
            <a:schemeClr val="accent5">
              <a:lumMod val="75000"/>
            </a:schemeClr>
          </a:solidFill>
          <a:ln/>
        </p:spPr>
        <p:txBody>
          <a:bodyPr/>
          <a:lstStyle/>
          <a:p>
            <a:endParaRPr lang="en-US"/>
          </a:p>
        </p:txBody>
      </p:sp>
      <p:sp>
        <p:nvSpPr>
          <p:cNvPr id="9" name="Text 7"/>
          <p:cNvSpPr/>
          <p:nvPr/>
        </p:nvSpPr>
        <p:spPr>
          <a:xfrm>
            <a:off x="822960" y="1623060"/>
            <a:ext cx="2743200" cy="841248"/>
          </a:xfrm>
          <a:prstGeom prst="rect">
            <a:avLst/>
          </a:prstGeom>
          <a:noFill/>
          <a:ln/>
        </p:spPr>
        <p:txBody>
          <a:bodyPr wrap="square" lIns="0" tIns="0" rIns="0" bIns="0" rtlCol="0" anchor="ctr"/>
          <a:lstStyle/>
          <a:p>
            <a:pPr marL="0" indent="0">
              <a:buNone/>
            </a:pPr>
            <a:r>
              <a:rPr lang="en-US" sz="1600" b="1" dirty="0">
                <a:solidFill>
                  <a:srgbClr val="0C3D5E"/>
                </a:solidFill>
                <a:latin typeface="Calibri" pitchFamily="34" charset="0"/>
                <a:ea typeface="Calibri" pitchFamily="34" charset="-122"/>
                <a:cs typeface="Calibri" pitchFamily="34" charset="-120"/>
              </a:rPr>
              <a:t>1 · Compound flood</a:t>
            </a:r>
            <a:endParaRPr lang="en-US" sz="1600" dirty="0"/>
          </a:p>
        </p:txBody>
      </p:sp>
      <p:sp>
        <p:nvSpPr>
          <p:cNvPr id="10" name="Text 8"/>
          <p:cNvSpPr/>
          <p:nvPr/>
        </p:nvSpPr>
        <p:spPr>
          <a:xfrm>
            <a:off x="3443188" y="1623060"/>
            <a:ext cx="3474720" cy="841248"/>
          </a:xfrm>
          <a:prstGeom prst="rect">
            <a:avLst/>
          </a:prstGeom>
          <a:noFill/>
          <a:ln/>
        </p:spPr>
        <p:txBody>
          <a:bodyPr wrap="square" lIns="0" tIns="0" rIns="0" bIns="0" rtlCol="0" anchor="ctr"/>
          <a:lstStyle/>
          <a:p>
            <a:pPr marL="0" indent="0">
              <a:buNone/>
            </a:pPr>
            <a:r>
              <a:rPr lang="en-US" sz="1400" dirty="0">
                <a:solidFill>
                  <a:srgbClr val="5C6B73"/>
                </a:solidFill>
                <a:latin typeface="Calibri" pitchFamily="34" charset="0"/>
                <a:ea typeface="Calibri" pitchFamily="34" charset="-122"/>
                <a:cs typeface="Calibri" pitchFamily="34" charset="-120"/>
              </a:rPr>
              <a:t>Single FEMA flood zone (tidal)</a:t>
            </a:r>
            <a:endParaRPr lang="en-US" sz="1400" dirty="0"/>
          </a:p>
        </p:txBody>
      </p:sp>
      <p:sp>
        <p:nvSpPr>
          <p:cNvPr id="11" name="Text 9"/>
          <p:cNvSpPr/>
          <p:nvPr/>
        </p:nvSpPr>
        <p:spPr>
          <a:xfrm>
            <a:off x="6722416" y="1623060"/>
            <a:ext cx="3200400" cy="841248"/>
          </a:xfrm>
          <a:prstGeom prst="rect">
            <a:avLst/>
          </a:prstGeom>
          <a:noFill/>
          <a:ln/>
        </p:spPr>
        <p:txBody>
          <a:bodyPr wrap="square" lIns="0" tIns="0" rIns="0" bIns="0" rtlCol="0" anchor="ctr"/>
          <a:lstStyle/>
          <a:p>
            <a:pPr marL="0" indent="0">
              <a:buNone/>
            </a:pPr>
            <a:r>
              <a:rPr lang="en-US" sz="1400" b="1" dirty="0">
                <a:solidFill>
                  <a:srgbClr val="1A2933"/>
                </a:solidFill>
                <a:latin typeface="Calibri" pitchFamily="34" charset="0"/>
                <a:ea typeface="Calibri" pitchFamily="34" charset="-122"/>
                <a:cs typeface="Calibri" pitchFamily="34" charset="-120"/>
              </a:rPr>
              <a:t>Tidal + stormwater + riverine combined</a:t>
            </a:r>
            <a:endParaRPr lang="en-US" sz="1400" b="1" dirty="0"/>
          </a:p>
        </p:txBody>
      </p:sp>
      <p:sp>
        <p:nvSpPr>
          <p:cNvPr id="12" name="Text 10"/>
          <p:cNvSpPr/>
          <p:nvPr/>
        </p:nvSpPr>
        <p:spPr>
          <a:xfrm>
            <a:off x="10515600" y="1879092"/>
            <a:ext cx="914400" cy="329184"/>
          </a:xfrm>
          <a:prstGeom prst="rect">
            <a:avLst/>
          </a:prstGeom>
          <a:noFill/>
          <a:ln/>
        </p:spPr>
        <p:txBody>
          <a:bodyPr wrap="square" lIns="0" tIns="0" rIns="0" bIns="0" rtlCol="0" anchor="ctr"/>
          <a:lstStyle/>
          <a:p>
            <a:pPr marL="0" indent="0" algn="ctr">
              <a:buNone/>
            </a:pPr>
            <a:r>
              <a:rPr lang="en-US" sz="1400" b="1" dirty="0">
                <a:solidFill>
                  <a:srgbClr val="2E6DA4"/>
                </a:solidFill>
                <a:latin typeface="Calibri" pitchFamily="34" charset="0"/>
                <a:ea typeface="Calibri" pitchFamily="34" charset="-122"/>
                <a:cs typeface="Calibri" pitchFamily="34" charset="-120"/>
              </a:rPr>
              <a:t>Core upgrade</a:t>
            </a:r>
            <a:endParaRPr lang="en-US" sz="1400" dirty="0"/>
          </a:p>
        </p:txBody>
      </p:sp>
      <p:sp>
        <p:nvSpPr>
          <p:cNvPr id="13" name="Shape 11"/>
          <p:cNvSpPr/>
          <p:nvPr/>
        </p:nvSpPr>
        <p:spPr>
          <a:xfrm>
            <a:off x="640080" y="2555748"/>
            <a:ext cx="10881360" cy="841248"/>
          </a:xfrm>
          <a:prstGeom prst="rect">
            <a:avLst/>
          </a:prstGeom>
          <a:solidFill>
            <a:srgbClr val="EEF3F6"/>
          </a:solidFill>
          <a:ln w="6350">
            <a:solidFill>
              <a:srgbClr val="E0E7EC"/>
            </a:solidFill>
            <a:prstDash val="solid"/>
          </a:ln>
        </p:spPr>
        <p:txBody>
          <a:bodyPr/>
          <a:lstStyle/>
          <a:p>
            <a:endParaRPr lang="en-US"/>
          </a:p>
        </p:txBody>
      </p:sp>
      <p:sp>
        <p:nvSpPr>
          <p:cNvPr id="14" name="Shape 12"/>
          <p:cNvSpPr/>
          <p:nvPr/>
        </p:nvSpPr>
        <p:spPr>
          <a:xfrm>
            <a:off x="640080" y="2555748"/>
            <a:ext cx="73152" cy="841248"/>
          </a:xfrm>
          <a:prstGeom prst="rect">
            <a:avLst/>
          </a:prstGeom>
          <a:solidFill>
            <a:srgbClr val="B5532E"/>
          </a:solidFill>
          <a:ln/>
        </p:spPr>
        <p:txBody>
          <a:bodyPr/>
          <a:lstStyle/>
          <a:p>
            <a:endParaRPr lang="en-US"/>
          </a:p>
        </p:txBody>
      </p:sp>
      <p:sp>
        <p:nvSpPr>
          <p:cNvPr id="15" name="Text 13"/>
          <p:cNvSpPr/>
          <p:nvPr/>
        </p:nvSpPr>
        <p:spPr>
          <a:xfrm>
            <a:off x="822960" y="2555748"/>
            <a:ext cx="2743200" cy="841248"/>
          </a:xfrm>
          <a:prstGeom prst="rect">
            <a:avLst/>
          </a:prstGeom>
          <a:noFill/>
          <a:ln/>
        </p:spPr>
        <p:txBody>
          <a:bodyPr wrap="square" lIns="0" tIns="0" rIns="0" bIns="0" rtlCol="0" anchor="ctr"/>
          <a:lstStyle/>
          <a:p>
            <a:pPr marL="0" indent="0">
              <a:buNone/>
            </a:pPr>
            <a:r>
              <a:rPr lang="en-US" sz="1600" b="1" dirty="0">
                <a:solidFill>
                  <a:srgbClr val="0C3D5E"/>
                </a:solidFill>
                <a:latin typeface="Calibri" pitchFamily="34" charset="0"/>
                <a:ea typeface="Calibri" pitchFamily="34" charset="-122"/>
                <a:cs typeface="Calibri" pitchFamily="34" charset="-120"/>
              </a:rPr>
              <a:t>2 · Vulnerability</a:t>
            </a:r>
            <a:endParaRPr lang="en-US" sz="1600" dirty="0"/>
          </a:p>
        </p:txBody>
      </p:sp>
      <p:sp>
        <p:nvSpPr>
          <p:cNvPr id="16" name="Text 14"/>
          <p:cNvSpPr/>
          <p:nvPr/>
        </p:nvSpPr>
        <p:spPr>
          <a:xfrm>
            <a:off x="3443188" y="2555748"/>
            <a:ext cx="3474720" cy="841248"/>
          </a:xfrm>
          <a:prstGeom prst="rect">
            <a:avLst/>
          </a:prstGeom>
          <a:noFill/>
          <a:ln/>
        </p:spPr>
        <p:txBody>
          <a:bodyPr wrap="square" lIns="0" tIns="0" rIns="0" bIns="0" rtlCol="0" anchor="ctr"/>
          <a:lstStyle/>
          <a:p>
            <a:pPr marL="0" indent="0">
              <a:buNone/>
            </a:pPr>
            <a:r>
              <a:rPr lang="en-US" sz="1400" dirty="0">
                <a:solidFill>
                  <a:srgbClr val="5C6B73"/>
                </a:solidFill>
                <a:latin typeface="Calibri" pitchFamily="34" charset="0"/>
                <a:ea typeface="Calibri" pitchFamily="34" charset="-122"/>
                <a:cs typeface="Calibri" pitchFamily="34" charset="-120"/>
              </a:rPr>
              <a:t>Local DAPI index</a:t>
            </a:r>
            <a:endParaRPr lang="en-US" sz="1400" dirty="0"/>
          </a:p>
        </p:txBody>
      </p:sp>
      <p:sp>
        <p:nvSpPr>
          <p:cNvPr id="17" name="Text 15"/>
          <p:cNvSpPr/>
          <p:nvPr/>
        </p:nvSpPr>
        <p:spPr>
          <a:xfrm>
            <a:off x="6722416" y="2555748"/>
            <a:ext cx="3200400" cy="841248"/>
          </a:xfrm>
          <a:prstGeom prst="rect">
            <a:avLst/>
          </a:prstGeom>
          <a:noFill/>
          <a:ln/>
        </p:spPr>
        <p:txBody>
          <a:bodyPr wrap="square" lIns="0" tIns="0" rIns="0" bIns="0" rtlCol="0" anchor="ctr"/>
          <a:lstStyle/>
          <a:p>
            <a:pPr marL="0" indent="0">
              <a:buNone/>
            </a:pPr>
            <a:r>
              <a:rPr lang="en-US" sz="1400" b="1" dirty="0">
                <a:solidFill>
                  <a:srgbClr val="1A2933"/>
                </a:solidFill>
                <a:latin typeface="Calibri" pitchFamily="34" charset="0"/>
                <a:ea typeface="Calibri" pitchFamily="34" charset="-122"/>
                <a:cs typeface="Calibri" pitchFamily="34" charset="-120"/>
              </a:rPr>
              <a:t>CDC SVI at block-group level + note limits</a:t>
            </a:r>
            <a:endParaRPr lang="en-US" sz="1400" b="1" dirty="0"/>
          </a:p>
        </p:txBody>
      </p:sp>
      <p:sp>
        <p:nvSpPr>
          <p:cNvPr id="18" name="Text 16"/>
          <p:cNvSpPr/>
          <p:nvPr/>
        </p:nvSpPr>
        <p:spPr>
          <a:xfrm>
            <a:off x="10515600" y="2811780"/>
            <a:ext cx="914400" cy="329184"/>
          </a:xfrm>
          <a:prstGeom prst="rect">
            <a:avLst/>
          </a:prstGeom>
          <a:noFill/>
          <a:ln/>
        </p:spPr>
        <p:txBody>
          <a:bodyPr wrap="square" lIns="0" tIns="0" rIns="0" bIns="0" rtlCol="0" anchor="ctr"/>
          <a:lstStyle/>
          <a:p>
            <a:pPr marL="0" indent="0" algn="ctr">
              <a:buNone/>
            </a:pPr>
            <a:r>
              <a:rPr lang="en-US" sz="1400" b="1" dirty="0">
                <a:solidFill>
                  <a:srgbClr val="B5532E"/>
                </a:solidFill>
                <a:latin typeface="Calibri" pitchFamily="34" charset="0"/>
                <a:ea typeface="Calibri" pitchFamily="34" charset="-122"/>
                <a:cs typeface="Calibri" pitchFamily="34" charset="-120"/>
              </a:rPr>
              <a:t>Refined</a:t>
            </a:r>
            <a:endParaRPr lang="en-US" sz="1400" dirty="0"/>
          </a:p>
        </p:txBody>
      </p:sp>
      <p:sp>
        <p:nvSpPr>
          <p:cNvPr id="19" name="Shape 17"/>
          <p:cNvSpPr/>
          <p:nvPr/>
        </p:nvSpPr>
        <p:spPr>
          <a:xfrm>
            <a:off x="640080" y="3488436"/>
            <a:ext cx="10881360" cy="841248"/>
          </a:xfrm>
          <a:prstGeom prst="rect">
            <a:avLst/>
          </a:prstGeom>
          <a:solidFill>
            <a:srgbClr val="EEF3F6"/>
          </a:solidFill>
          <a:ln w="6350">
            <a:solidFill>
              <a:srgbClr val="E0E7EC"/>
            </a:solidFill>
            <a:prstDash val="solid"/>
          </a:ln>
        </p:spPr>
        <p:txBody>
          <a:bodyPr/>
          <a:lstStyle/>
          <a:p>
            <a:endParaRPr lang="en-US"/>
          </a:p>
        </p:txBody>
      </p:sp>
      <p:sp>
        <p:nvSpPr>
          <p:cNvPr id="20" name="Shape 18"/>
          <p:cNvSpPr/>
          <p:nvPr/>
        </p:nvSpPr>
        <p:spPr>
          <a:xfrm>
            <a:off x="640080" y="3488436"/>
            <a:ext cx="73152" cy="841248"/>
          </a:xfrm>
          <a:prstGeom prst="rect">
            <a:avLst/>
          </a:prstGeom>
          <a:solidFill>
            <a:srgbClr val="1C7293"/>
          </a:solidFill>
          <a:ln/>
        </p:spPr>
        <p:txBody>
          <a:bodyPr/>
          <a:lstStyle/>
          <a:p>
            <a:endParaRPr lang="en-US"/>
          </a:p>
        </p:txBody>
      </p:sp>
      <p:sp>
        <p:nvSpPr>
          <p:cNvPr id="21" name="Text 19"/>
          <p:cNvSpPr/>
          <p:nvPr/>
        </p:nvSpPr>
        <p:spPr>
          <a:xfrm>
            <a:off x="822960" y="3488436"/>
            <a:ext cx="2743200" cy="841248"/>
          </a:xfrm>
          <a:prstGeom prst="rect">
            <a:avLst/>
          </a:prstGeom>
          <a:noFill/>
          <a:ln/>
        </p:spPr>
        <p:txBody>
          <a:bodyPr wrap="square" lIns="0" tIns="0" rIns="0" bIns="0" rtlCol="0" anchor="ctr"/>
          <a:lstStyle/>
          <a:p>
            <a:pPr marL="0" indent="0">
              <a:buNone/>
            </a:pPr>
            <a:r>
              <a:rPr lang="en-US" sz="1600" b="1" dirty="0">
                <a:solidFill>
                  <a:srgbClr val="0C3D5E"/>
                </a:solidFill>
                <a:latin typeface="Calibri" pitchFamily="34" charset="0"/>
                <a:ea typeface="Calibri" pitchFamily="34" charset="-122"/>
                <a:cs typeface="Calibri" pitchFamily="34" charset="-120"/>
              </a:rPr>
              <a:t>3 · Infrastructure</a:t>
            </a:r>
            <a:endParaRPr lang="en-US" sz="1600" dirty="0"/>
          </a:p>
        </p:txBody>
      </p:sp>
      <p:sp>
        <p:nvSpPr>
          <p:cNvPr id="22" name="Text 20"/>
          <p:cNvSpPr/>
          <p:nvPr/>
        </p:nvSpPr>
        <p:spPr>
          <a:xfrm>
            <a:off x="3443188" y="3488436"/>
            <a:ext cx="3474720" cy="841248"/>
          </a:xfrm>
          <a:prstGeom prst="rect">
            <a:avLst/>
          </a:prstGeom>
          <a:noFill/>
          <a:ln/>
        </p:spPr>
        <p:txBody>
          <a:bodyPr wrap="square" lIns="0" tIns="0" rIns="0" bIns="0" rtlCol="0" anchor="ctr"/>
          <a:lstStyle/>
          <a:p>
            <a:pPr marL="0" indent="0">
              <a:buNone/>
            </a:pPr>
            <a:r>
              <a:rPr lang="en-US" sz="1400" dirty="0">
                <a:solidFill>
                  <a:srgbClr val="5C6B73"/>
                </a:solidFill>
                <a:latin typeface="Calibri" pitchFamily="34" charset="0"/>
                <a:ea typeface="Calibri" pitchFamily="34" charset="-122"/>
                <a:cs typeface="Calibri" pitchFamily="34" charset="-120"/>
              </a:rPr>
              <a:t>Kernel density of facilities</a:t>
            </a:r>
            <a:endParaRPr lang="en-US" sz="1400" dirty="0"/>
          </a:p>
        </p:txBody>
      </p:sp>
      <p:sp>
        <p:nvSpPr>
          <p:cNvPr id="23" name="Text 21"/>
          <p:cNvSpPr/>
          <p:nvPr/>
        </p:nvSpPr>
        <p:spPr>
          <a:xfrm>
            <a:off x="6722416" y="3488436"/>
            <a:ext cx="3200400" cy="841248"/>
          </a:xfrm>
          <a:prstGeom prst="rect">
            <a:avLst/>
          </a:prstGeom>
          <a:noFill/>
          <a:ln/>
        </p:spPr>
        <p:txBody>
          <a:bodyPr wrap="square" lIns="0" tIns="0" rIns="0" bIns="0" rtlCol="0" anchor="ctr"/>
          <a:lstStyle/>
          <a:p>
            <a:pPr marL="0" indent="0">
              <a:buNone/>
            </a:pPr>
            <a:r>
              <a:rPr lang="en-US" sz="1400" b="1" dirty="0">
                <a:solidFill>
                  <a:srgbClr val="1A2933"/>
                </a:solidFill>
                <a:latin typeface="Calibri" pitchFamily="34" charset="0"/>
                <a:ea typeface="Calibri" pitchFamily="34" charset="-122"/>
                <a:cs typeface="Calibri" pitchFamily="34" charset="-120"/>
              </a:rPr>
              <a:t>Same, from OpenStreetMap</a:t>
            </a:r>
            <a:endParaRPr lang="en-US" sz="1400" b="1" dirty="0"/>
          </a:p>
        </p:txBody>
      </p:sp>
      <p:sp>
        <p:nvSpPr>
          <p:cNvPr id="24" name="Text 22"/>
          <p:cNvSpPr/>
          <p:nvPr/>
        </p:nvSpPr>
        <p:spPr>
          <a:xfrm>
            <a:off x="10515600" y="3744468"/>
            <a:ext cx="914400" cy="329184"/>
          </a:xfrm>
          <a:prstGeom prst="rect">
            <a:avLst/>
          </a:prstGeom>
          <a:noFill/>
          <a:ln/>
        </p:spPr>
        <p:txBody>
          <a:bodyPr wrap="square" lIns="0" tIns="0" rIns="0" bIns="0" rtlCol="0" anchor="ctr"/>
          <a:lstStyle/>
          <a:p>
            <a:pPr marL="0" indent="0" algn="ctr">
              <a:buNone/>
            </a:pPr>
            <a:r>
              <a:rPr lang="en-US" sz="1400" b="1" dirty="0">
                <a:solidFill>
                  <a:srgbClr val="1C7293"/>
                </a:solidFill>
                <a:latin typeface="Calibri" pitchFamily="34" charset="0"/>
                <a:ea typeface="Calibri" pitchFamily="34" charset="-122"/>
                <a:cs typeface="Calibri" pitchFamily="34" charset="-120"/>
              </a:rPr>
              <a:t>Reused</a:t>
            </a:r>
            <a:endParaRPr lang="en-US" sz="1400" dirty="0"/>
          </a:p>
        </p:txBody>
      </p:sp>
      <p:sp>
        <p:nvSpPr>
          <p:cNvPr id="25" name="Shape 23"/>
          <p:cNvSpPr/>
          <p:nvPr/>
        </p:nvSpPr>
        <p:spPr>
          <a:xfrm>
            <a:off x="640080" y="4421124"/>
            <a:ext cx="10881360" cy="841248"/>
          </a:xfrm>
          <a:prstGeom prst="rect">
            <a:avLst/>
          </a:prstGeom>
          <a:solidFill>
            <a:srgbClr val="EEF3F6"/>
          </a:solidFill>
          <a:ln w="6350">
            <a:solidFill>
              <a:srgbClr val="E0E7EC"/>
            </a:solidFill>
            <a:prstDash val="solid"/>
          </a:ln>
        </p:spPr>
        <p:txBody>
          <a:bodyPr/>
          <a:lstStyle/>
          <a:p>
            <a:endParaRPr lang="en-US"/>
          </a:p>
        </p:txBody>
      </p:sp>
      <p:sp>
        <p:nvSpPr>
          <p:cNvPr id="26" name="Shape 24"/>
          <p:cNvSpPr/>
          <p:nvPr/>
        </p:nvSpPr>
        <p:spPr>
          <a:xfrm>
            <a:off x="640080" y="4421124"/>
            <a:ext cx="73152" cy="841248"/>
          </a:xfrm>
          <a:prstGeom prst="rect">
            <a:avLst/>
          </a:prstGeom>
          <a:solidFill>
            <a:srgbClr val="C77B0A"/>
          </a:solidFill>
          <a:ln/>
        </p:spPr>
        <p:txBody>
          <a:bodyPr/>
          <a:lstStyle/>
          <a:p>
            <a:endParaRPr lang="en-US"/>
          </a:p>
        </p:txBody>
      </p:sp>
      <p:sp>
        <p:nvSpPr>
          <p:cNvPr id="27" name="Text 25"/>
          <p:cNvSpPr/>
          <p:nvPr/>
        </p:nvSpPr>
        <p:spPr>
          <a:xfrm>
            <a:off x="822960" y="4421124"/>
            <a:ext cx="2743200" cy="841248"/>
          </a:xfrm>
          <a:prstGeom prst="rect">
            <a:avLst/>
          </a:prstGeom>
          <a:noFill/>
          <a:ln/>
        </p:spPr>
        <p:txBody>
          <a:bodyPr wrap="square" lIns="0" tIns="0" rIns="0" bIns="0" rtlCol="0" anchor="ctr"/>
          <a:lstStyle/>
          <a:p>
            <a:pPr marL="0" indent="0">
              <a:buNone/>
            </a:pPr>
            <a:r>
              <a:rPr lang="en-US" sz="1600" b="1" dirty="0">
                <a:solidFill>
                  <a:srgbClr val="0C3D5E"/>
                </a:solidFill>
                <a:latin typeface="Calibri" pitchFamily="34" charset="0"/>
                <a:ea typeface="Calibri" pitchFamily="34" charset="-122"/>
                <a:cs typeface="Calibri" pitchFamily="34" charset="-120"/>
              </a:rPr>
              <a:t>4 · Coverage</a:t>
            </a:r>
            <a:endParaRPr lang="en-US" sz="1600" dirty="0"/>
          </a:p>
        </p:txBody>
      </p:sp>
      <p:sp>
        <p:nvSpPr>
          <p:cNvPr id="28" name="Text 26"/>
          <p:cNvSpPr/>
          <p:nvPr/>
        </p:nvSpPr>
        <p:spPr>
          <a:xfrm>
            <a:off x="3443188" y="4421124"/>
            <a:ext cx="3474720" cy="841248"/>
          </a:xfrm>
          <a:prstGeom prst="rect">
            <a:avLst/>
          </a:prstGeom>
          <a:noFill/>
          <a:ln/>
        </p:spPr>
        <p:txBody>
          <a:bodyPr wrap="square" lIns="0" tIns="0" rIns="0" bIns="0" rtlCol="0" anchor="ctr"/>
          <a:lstStyle/>
          <a:p>
            <a:pPr marL="0" indent="0">
              <a:buNone/>
            </a:pPr>
            <a:r>
              <a:rPr lang="en-US" sz="1400" dirty="0">
                <a:solidFill>
                  <a:srgbClr val="5C6B73"/>
                </a:solidFill>
                <a:latin typeface="Calibri" pitchFamily="34" charset="0"/>
                <a:ea typeface="Calibri" pitchFamily="34" charset="-122"/>
                <a:cs typeface="Calibri" pitchFamily="34" charset="-120"/>
              </a:rPr>
              <a:t>Expand existing 30 sensors</a:t>
            </a:r>
            <a:endParaRPr lang="en-US" sz="1400" dirty="0"/>
          </a:p>
        </p:txBody>
      </p:sp>
      <p:sp>
        <p:nvSpPr>
          <p:cNvPr id="29" name="Text 27"/>
          <p:cNvSpPr/>
          <p:nvPr/>
        </p:nvSpPr>
        <p:spPr>
          <a:xfrm>
            <a:off x="6722416" y="4421124"/>
            <a:ext cx="3200400" cy="841248"/>
          </a:xfrm>
          <a:prstGeom prst="rect">
            <a:avLst/>
          </a:prstGeom>
          <a:noFill/>
          <a:ln/>
        </p:spPr>
        <p:txBody>
          <a:bodyPr wrap="square" lIns="0" tIns="0" rIns="0" bIns="0" rtlCol="0" anchor="ctr"/>
          <a:lstStyle/>
          <a:p>
            <a:pPr marL="0" indent="0">
              <a:buNone/>
            </a:pPr>
            <a:r>
              <a:rPr lang="en-US" sz="1400" b="1" dirty="0">
                <a:solidFill>
                  <a:srgbClr val="1A2933"/>
                </a:solidFill>
                <a:latin typeface="Calibri" pitchFamily="34" charset="0"/>
                <a:ea typeface="Calibri" pitchFamily="34" charset="-122"/>
                <a:cs typeface="Calibri" pitchFamily="34" charset="-120"/>
              </a:rPr>
              <a:t>Spread 20 from scratch</a:t>
            </a:r>
            <a:endParaRPr lang="en-US" sz="1400" b="1" dirty="0"/>
          </a:p>
        </p:txBody>
      </p:sp>
      <p:sp>
        <p:nvSpPr>
          <p:cNvPr id="30" name="Text 28"/>
          <p:cNvSpPr/>
          <p:nvPr/>
        </p:nvSpPr>
        <p:spPr>
          <a:xfrm>
            <a:off x="10515600" y="4677156"/>
            <a:ext cx="914400" cy="329184"/>
          </a:xfrm>
          <a:prstGeom prst="rect">
            <a:avLst/>
          </a:prstGeom>
          <a:noFill/>
          <a:ln/>
        </p:spPr>
        <p:txBody>
          <a:bodyPr wrap="square" lIns="0" tIns="0" rIns="0" bIns="0" rtlCol="0" anchor="ctr"/>
          <a:lstStyle/>
          <a:p>
            <a:pPr marL="0" indent="0" algn="ctr">
              <a:buNone/>
            </a:pPr>
            <a:r>
              <a:rPr lang="en-US" sz="1400" b="1" dirty="0">
                <a:solidFill>
                  <a:srgbClr val="C77B0A"/>
                </a:solidFill>
                <a:latin typeface="Calibri" pitchFamily="34" charset="0"/>
                <a:ea typeface="Calibri" pitchFamily="34" charset="-122"/>
                <a:cs typeface="Calibri" pitchFamily="34" charset="-120"/>
              </a:rPr>
              <a:t>Re-scoped</a:t>
            </a:r>
            <a:endParaRPr lang="en-US" sz="1400" dirty="0"/>
          </a:p>
        </p:txBody>
      </p:sp>
      <p:sp>
        <p:nvSpPr>
          <p:cNvPr id="31" name="Shape 29"/>
          <p:cNvSpPr/>
          <p:nvPr/>
        </p:nvSpPr>
        <p:spPr>
          <a:xfrm>
            <a:off x="640080" y="5353812"/>
            <a:ext cx="10881360" cy="841248"/>
          </a:xfrm>
          <a:prstGeom prst="rect">
            <a:avLst/>
          </a:prstGeom>
          <a:solidFill>
            <a:srgbClr val="EEF3F6"/>
          </a:solidFill>
          <a:ln w="6350">
            <a:solidFill>
              <a:srgbClr val="E0E7EC"/>
            </a:solidFill>
            <a:prstDash val="solid"/>
          </a:ln>
        </p:spPr>
        <p:txBody>
          <a:bodyPr/>
          <a:lstStyle/>
          <a:p>
            <a:endParaRPr lang="en-US"/>
          </a:p>
        </p:txBody>
      </p:sp>
      <p:sp>
        <p:nvSpPr>
          <p:cNvPr id="32" name="Shape 30"/>
          <p:cNvSpPr/>
          <p:nvPr/>
        </p:nvSpPr>
        <p:spPr>
          <a:xfrm>
            <a:off x="640080" y="5353812"/>
            <a:ext cx="73152" cy="841248"/>
          </a:xfrm>
          <a:prstGeom prst="rect">
            <a:avLst/>
          </a:prstGeom>
          <a:solidFill>
            <a:srgbClr val="2E6B3E"/>
          </a:solidFill>
          <a:ln/>
        </p:spPr>
        <p:txBody>
          <a:bodyPr/>
          <a:lstStyle/>
          <a:p>
            <a:endParaRPr lang="en-US"/>
          </a:p>
        </p:txBody>
      </p:sp>
      <p:sp>
        <p:nvSpPr>
          <p:cNvPr id="33" name="Text 31"/>
          <p:cNvSpPr/>
          <p:nvPr/>
        </p:nvSpPr>
        <p:spPr>
          <a:xfrm>
            <a:off x="822960" y="5353812"/>
            <a:ext cx="2743200" cy="841248"/>
          </a:xfrm>
          <a:prstGeom prst="rect">
            <a:avLst/>
          </a:prstGeom>
          <a:noFill/>
          <a:ln/>
        </p:spPr>
        <p:txBody>
          <a:bodyPr wrap="square" lIns="0" tIns="0" rIns="0" bIns="0" rtlCol="0" anchor="ctr"/>
          <a:lstStyle/>
          <a:p>
            <a:pPr marL="0" indent="0">
              <a:buNone/>
            </a:pPr>
            <a:r>
              <a:rPr lang="en-US" sz="1600" b="1" dirty="0">
                <a:solidFill>
                  <a:srgbClr val="0C3D5E"/>
                </a:solidFill>
                <a:latin typeface="Calibri" pitchFamily="34" charset="0"/>
                <a:ea typeface="Calibri" pitchFamily="34" charset="-122"/>
                <a:cs typeface="Calibri" pitchFamily="34" charset="-120"/>
              </a:rPr>
              <a:t>5 · Uncertainty</a:t>
            </a:r>
            <a:endParaRPr lang="en-US" sz="1600" dirty="0"/>
          </a:p>
        </p:txBody>
      </p:sp>
      <p:sp>
        <p:nvSpPr>
          <p:cNvPr id="34" name="Text 32"/>
          <p:cNvSpPr/>
          <p:nvPr/>
        </p:nvSpPr>
        <p:spPr>
          <a:xfrm>
            <a:off x="3443188" y="5353812"/>
            <a:ext cx="3474720" cy="841248"/>
          </a:xfrm>
          <a:prstGeom prst="rect">
            <a:avLst/>
          </a:prstGeom>
          <a:noFill/>
          <a:ln/>
        </p:spPr>
        <p:txBody>
          <a:bodyPr wrap="square" lIns="0" tIns="0" rIns="0" bIns="0" rtlCol="0" anchor="ctr"/>
          <a:lstStyle/>
          <a:p>
            <a:pPr marL="0" indent="0">
              <a:buNone/>
            </a:pPr>
            <a:r>
              <a:rPr lang="en-US" sz="1400" dirty="0">
                <a:solidFill>
                  <a:srgbClr val="5C6B73"/>
                </a:solidFill>
                <a:latin typeface="Calibri" pitchFamily="34" charset="0"/>
                <a:ea typeface="Calibri" pitchFamily="34" charset="-122"/>
                <a:cs typeface="Calibri" pitchFamily="34" charset="-120"/>
              </a:rPr>
              <a:t>Reduce existing-network error</a:t>
            </a:r>
            <a:endParaRPr lang="en-US" sz="1400" dirty="0"/>
          </a:p>
        </p:txBody>
      </p:sp>
      <p:sp>
        <p:nvSpPr>
          <p:cNvPr id="35" name="Text 33"/>
          <p:cNvSpPr/>
          <p:nvPr/>
        </p:nvSpPr>
        <p:spPr>
          <a:xfrm>
            <a:off x="6722416" y="5353812"/>
            <a:ext cx="3200400" cy="841248"/>
          </a:xfrm>
          <a:prstGeom prst="rect">
            <a:avLst/>
          </a:prstGeom>
          <a:noFill/>
          <a:ln/>
        </p:spPr>
        <p:txBody>
          <a:bodyPr wrap="square" lIns="0" tIns="0" rIns="0" bIns="0" rtlCol="0" anchor="ctr"/>
          <a:lstStyle/>
          <a:p>
            <a:pPr marL="0" indent="0">
              <a:buNone/>
            </a:pPr>
            <a:r>
              <a:rPr lang="en-US" sz="1400" b="1" dirty="0">
                <a:solidFill>
                  <a:srgbClr val="1A2933"/>
                </a:solidFill>
                <a:latin typeface="Calibri" pitchFamily="34" charset="0"/>
                <a:ea typeface="Calibri" pitchFamily="34" charset="-122"/>
                <a:cs typeface="Calibri" pitchFamily="34" charset="-120"/>
              </a:rPr>
              <a:t>Simplified (no prior network)</a:t>
            </a:r>
            <a:endParaRPr lang="en-US" sz="1400" b="1" dirty="0"/>
          </a:p>
        </p:txBody>
      </p:sp>
      <p:sp>
        <p:nvSpPr>
          <p:cNvPr id="36" name="Text 34"/>
          <p:cNvSpPr/>
          <p:nvPr/>
        </p:nvSpPr>
        <p:spPr>
          <a:xfrm>
            <a:off x="10515600" y="5609844"/>
            <a:ext cx="914400" cy="329184"/>
          </a:xfrm>
          <a:prstGeom prst="rect">
            <a:avLst/>
          </a:prstGeom>
          <a:noFill/>
          <a:ln/>
        </p:spPr>
        <p:txBody>
          <a:bodyPr wrap="square" lIns="0" tIns="0" rIns="0" bIns="0" rtlCol="0" anchor="ctr"/>
          <a:lstStyle/>
          <a:p>
            <a:pPr marL="0" indent="0" algn="ctr">
              <a:buNone/>
            </a:pPr>
            <a:r>
              <a:rPr lang="en-US" sz="1400" b="1" dirty="0">
                <a:solidFill>
                  <a:srgbClr val="2E6B3E"/>
                </a:solidFill>
                <a:latin typeface="Calibri" pitchFamily="34" charset="0"/>
                <a:ea typeface="Calibri" pitchFamily="34" charset="-122"/>
                <a:cs typeface="Calibri" pitchFamily="34" charset="-120"/>
              </a:rPr>
              <a:t>Simplified</a:t>
            </a:r>
            <a:endParaRPr lang="en-US" sz="1400" dirty="0"/>
          </a:p>
        </p:txBody>
      </p:sp>
      <p:sp>
        <p:nvSpPr>
          <p:cNvPr id="39" name="Text 0">
            <a:extLst>
              <a:ext uri="{FF2B5EF4-FFF2-40B4-BE49-F238E27FC236}">
                <a16:creationId xmlns:a16="http://schemas.microsoft.com/office/drawing/2014/main" id="{C852E8C8-532C-6865-BA22-205542DB8A9B}"/>
              </a:ext>
            </a:extLst>
          </p:cNvPr>
          <p:cNvSpPr/>
          <p:nvPr/>
        </p:nvSpPr>
        <p:spPr>
          <a:xfrm>
            <a:off x="548640" y="310896"/>
            <a:ext cx="11155680" cy="548640"/>
          </a:xfrm>
          <a:prstGeom prst="rect">
            <a:avLst/>
          </a:prstGeom>
          <a:noFill/>
          <a:ln/>
        </p:spPr>
        <p:txBody>
          <a:bodyPr wrap="square" lIns="0" tIns="0" rIns="0" bIns="0" rtlCol="0" anchor="ctr"/>
          <a:lstStyle/>
          <a:p>
            <a:pPr marL="0" indent="0">
              <a:buNone/>
            </a:pPr>
            <a:r>
              <a:rPr lang="en-US" sz="2500" b="1" dirty="0">
                <a:solidFill>
                  <a:srgbClr val="0C3D5E"/>
                </a:solidFill>
                <a:latin typeface="Georgia" pitchFamily="34" charset="0"/>
                <a:ea typeface="Georgia" pitchFamily="34" charset="-122"/>
                <a:cs typeface="Georgia" pitchFamily="34" charset="-120"/>
              </a:rPr>
              <a:t>Then Inspired by the Paper</a:t>
            </a:r>
            <a:endParaRPr lang="en-US" sz="2500" dirty="0"/>
          </a:p>
        </p:txBody>
      </p:sp>
      <p:sp>
        <p:nvSpPr>
          <p:cNvPr id="41" name="Text 1">
            <a:extLst>
              <a:ext uri="{FF2B5EF4-FFF2-40B4-BE49-F238E27FC236}">
                <a16:creationId xmlns:a16="http://schemas.microsoft.com/office/drawing/2014/main" id="{4BDFDF78-A928-20BE-7EEA-48F362427749}"/>
              </a:ext>
            </a:extLst>
          </p:cNvPr>
          <p:cNvSpPr/>
          <p:nvPr/>
        </p:nvSpPr>
        <p:spPr>
          <a:xfrm>
            <a:off x="548640" y="859536"/>
            <a:ext cx="11155680" cy="384048"/>
          </a:xfrm>
          <a:prstGeom prst="rect">
            <a:avLst/>
          </a:prstGeom>
          <a:noFill/>
          <a:ln/>
        </p:spPr>
        <p:txBody>
          <a:bodyPr wrap="square" lIns="0" tIns="0" rIns="0" bIns="0" rtlCol="0" anchor="ctr"/>
          <a:lstStyle/>
          <a:p>
            <a:pPr marL="0" indent="0">
              <a:buNone/>
            </a:pPr>
            <a:r>
              <a:rPr lang="en-US" sz="1350" i="1" dirty="0">
                <a:solidFill>
                  <a:srgbClr val="5C6B73"/>
                </a:solidFill>
                <a:latin typeface="Calibri" pitchFamily="34" charset="0"/>
                <a:ea typeface="Calibri" pitchFamily="34" charset="-122"/>
                <a:cs typeface="Calibri" pitchFamily="34" charset="-120"/>
              </a:rPr>
              <a:t>Tien et al. (2023), sensor siting in the same Savannah network, by a previous PhD student</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155680" cy="548640"/>
          </a:xfrm>
          <a:prstGeom prst="rect">
            <a:avLst/>
          </a:prstGeom>
          <a:noFill/>
          <a:ln/>
        </p:spPr>
        <p:txBody>
          <a:bodyPr wrap="square" lIns="0" tIns="0" rIns="0" bIns="0" rtlCol="0" anchor="ctr"/>
          <a:lstStyle/>
          <a:p>
            <a:pPr marL="0" indent="0">
              <a:buNone/>
            </a:pPr>
            <a:r>
              <a:rPr lang="en-US" sz="2500" b="1" dirty="0">
                <a:solidFill>
                  <a:srgbClr val="0C3D5E"/>
                </a:solidFill>
                <a:latin typeface="Georgia" pitchFamily="34" charset="0"/>
                <a:ea typeface="Georgia" pitchFamily="34" charset="-122"/>
                <a:cs typeface="Georgia" pitchFamily="34" charset="-120"/>
              </a:rPr>
              <a:t>Problem 1: the Validation Isn't Valid</a:t>
            </a:r>
            <a:endParaRPr lang="en-US" sz="2500" dirty="0"/>
          </a:p>
        </p:txBody>
      </p:sp>
      <p:sp>
        <p:nvSpPr>
          <p:cNvPr id="3" name="Text 1"/>
          <p:cNvSpPr/>
          <p:nvPr/>
        </p:nvSpPr>
        <p:spPr>
          <a:xfrm>
            <a:off x="548640" y="859536"/>
            <a:ext cx="11155680" cy="384048"/>
          </a:xfrm>
          <a:prstGeom prst="rect">
            <a:avLst/>
          </a:prstGeom>
          <a:noFill/>
          <a:ln/>
        </p:spPr>
        <p:txBody>
          <a:bodyPr wrap="square" lIns="0" tIns="0" rIns="0" bIns="0" rtlCol="0" anchor="ctr"/>
          <a:lstStyle/>
          <a:p>
            <a:pPr marL="0" indent="0">
              <a:buNone/>
            </a:pPr>
            <a:r>
              <a:rPr lang="en-US" sz="1350" i="1" dirty="0">
                <a:solidFill>
                  <a:srgbClr val="5C6B73"/>
                </a:solidFill>
                <a:latin typeface="Calibri" pitchFamily="34" charset="0"/>
                <a:ea typeface="Calibri" pitchFamily="34" charset="-122"/>
                <a:cs typeface="Calibri" pitchFamily="34" charset="-120"/>
              </a:rPr>
              <a:t>The existing sensors are 'where it was feasible', not 'where is ideal'</a:t>
            </a:r>
            <a:endParaRPr lang="en-US" sz="1350" dirty="0"/>
          </a:p>
        </p:txBody>
      </p:sp>
      <p:sp>
        <p:nvSpPr>
          <p:cNvPr id="4" name="Shape 2"/>
          <p:cNvSpPr/>
          <p:nvPr/>
        </p:nvSpPr>
        <p:spPr>
          <a:xfrm>
            <a:off x="640080" y="1554480"/>
            <a:ext cx="5212080" cy="2606040"/>
          </a:xfrm>
          <a:prstGeom prst="rect">
            <a:avLst/>
          </a:prstGeom>
          <a:solidFill>
            <a:srgbClr val="EEF3F6"/>
          </a:solidFill>
          <a:ln w="19050">
            <a:solidFill>
              <a:srgbClr val="5C6B73"/>
            </a:solidFill>
            <a:prstDash val="solid"/>
          </a:ln>
          <a:effectLst>
            <a:outerShdw blurRad="63500" dist="25400" dir="5400000" algn="bl" rotWithShape="0">
              <a:srgbClr val="9DB0BA">
                <a:alpha val="35000"/>
              </a:srgbClr>
            </a:outerShdw>
          </a:effectLst>
        </p:spPr>
        <p:txBody>
          <a:bodyPr/>
          <a:lstStyle/>
          <a:p>
            <a:endParaRPr lang="en-US"/>
          </a:p>
        </p:txBody>
      </p:sp>
      <p:sp>
        <p:nvSpPr>
          <p:cNvPr id="5" name="Shape 3"/>
          <p:cNvSpPr/>
          <p:nvPr/>
        </p:nvSpPr>
        <p:spPr>
          <a:xfrm>
            <a:off x="640080" y="1554480"/>
            <a:ext cx="5212080" cy="548640"/>
          </a:xfrm>
          <a:prstGeom prst="rect">
            <a:avLst/>
          </a:prstGeom>
          <a:solidFill>
            <a:srgbClr val="5C6B73"/>
          </a:solidFill>
          <a:ln/>
        </p:spPr>
        <p:txBody>
          <a:bodyPr/>
          <a:lstStyle/>
          <a:p>
            <a:endParaRPr lang="en-US"/>
          </a:p>
        </p:txBody>
      </p:sp>
      <p:sp>
        <p:nvSpPr>
          <p:cNvPr id="6" name="Text 4"/>
          <p:cNvSpPr/>
          <p:nvPr/>
        </p:nvSpPr>
        <p:spPr>
          <a:xfrm>
            <a:off x="914400" y="1554480"/>
            <a:ext cx="4663440" cy="5486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How the 48 sensors were really placed</a:t>
            </a:r>
            <a:endParaRPr lang="en-US" sz="1350" dirty="0"/>
          </a:p>
        </p:txBody>
      </p:sp>
      <p:sp>
        <p:nvSpPr>
          <p:cNvPr id="7" name="Text 5"/>
          <p:cNvSpPr/>
          <p:nvPr/>
        </p:nvSpPr>
        <p:spPr>
          <a:xfrm>
            <a:off x="914400" y="2212848"/>
            <a:ext cx="4754880" cy="1828800"/>
          </a:xfrm>
          <a:prstGeom prst="rect">
            <a:avLst/>
          </a:prstGeom>
          <a:noFill/>
          <a:ln/>
        </p:spPr>
        <p:txBody>
          <a:bodyPr wrap="square" lIns="0" tIns="0" rIns="0" bIns="0" rtlCol="0" anchor="t"/>
          <a:lstStyle/>
          <a:p>
            <a:pPr marL="342900" indent="-342900">
              <a:lnSpc>
                <a:spcPct val="108000"/>
              </a:lnSpc>
              <a:spcAft>
                <a:spcPts val="600"/>
              </a:spcAft>
              <a:buSzPct val="100000"/>
              <a:buChar char="•"/>
            </a:pPr>
            <a:r>
              <a:rPr lang="en-US" sz="1200" dirty="0">
                <a:solidFill>
                  <a:srgbClr val="1A2933"/>
                </a:solidFill>
                <a:latin typeface="Calibri" pitchFamily="34" charset="0"/>
                <a:ea typeface="Calibri" pitchFamily="34" charset="-122"/>
                <a:cs typeface="Calibri" pitchFamily="34" charset="-120"/>
              </a:rPr>
              <a:t>Installed 6 to 8 years ago, by feasibility: easy access, near a waterway, something to mount on</a:t>
            </a:r>
            <a:endParaRPr lang="en-US" sz="1200" dirty="0"/>
          </a:p>
          <a:p>
            <a:pPr marL="342900" indent="-342900">
              <a:lnSpc>
                <a:spcPct val="108000"/>
              </a:lnSpc>
              <a:spcAft>
                <a:spcPts val="600"/>
              </a:spcAft>
              <a:buSzPct val="100000"/>
              <a:buChar char="•"/>
            </a:pPr>
            <a:r>
              <a:rPr lang="en-US" sz="1200" dirty="0">
                <a:solidFill>
                  <a:srgbClr val="1A2933"/>
                </a:solidFill>
                <a:latin typeface="Calibri" pitchFamily="34" charset="0"/>
                <a:ea typeface="Calibri" pitchFamily="34" charset="-122"/>
                <a:cs typeface="Calibri" pitchFamily="34" charset="-120"/>
              </a:rPr>
              <a:t>Many strapped to fence posts; theft &amp; stability were real concerns</a:t>
            </a:r>
            <a:endParaRPr lang="en-US" sz="1200" dirty="0"/>
          </a:p>
          <a:p>
            <a:pPr marL="342900" indent="-342900">
              <a:lnSpc>
                <a:spcPct val="108000"/>
              </a:lnSpc>
              <a:buSzPct val="100000"/>
              <a:buChar char="•"/>
            </a:pPr>
            <a:r>
              <a:rPr lang="en-US" sz="1200" dirty="0">
                <a:solidFill>
                  <a:srgbClr val="1A2933"/>
                </a:solidFill>
                <a:latin typeface="Calibri" pitchFamily="34" charset="0"/>
                <a:ea typeface="Calibri" pitchFamily="34" charset="-122"/>
                <a:cs typeface="Calibri" pitchFamily="34" charset="-120"/>
              </a:rPr>
              <a:t>Deployment never fully completed (county infrastructure limits)</a:t>
            </a:r>
            <a:endParaRPr lang="en-US" sz="1200" dirty="0"/>
          </a:p>
        </p:txBody>
      </p:sp>
      <p:sp>
        <p:nvSpPr>
          <p:cNvPr id="8" name="Shape 6"/>
          <p:cNvSpPr/>
          <p:nvPr/>
        </p:nvSpPr>
        <p:spPr>
          <a:xfrm>
            <a:off x="6309360" y="1554480"/>
            <a:ext cx="5212080" cy="2606040"/>
          </a:xfrm>
          <a:prstGeom prst="rect">
            <a:avLst/>
          </a:prstGeom>
          <a:solidFill>
            <a:srgbClr val="EEF3F6"/>
          </a:solidFill>
          <a:ln w="19050">
            <a:solidFill>
              <a:srgbClr val="B5532E"/>
            </a:solidFill>
            <a:prstDash val="solid"/>
          </a:ln>
          <a:effectLst>
            <a:outerShdw blurRad="63500" dist="25400" dir="5400000" algn="bl" rotWithShape="0">
              <a:srgbClr val="9DB0BA">
                <a:alpha val="35000"/>
              </a:srgbClr>
            </a:outerShdw>
          </a:effectLst>
        </p:spPr>
        <p:txBody>
          <a:bodyPr/>
          <a:lstStyle/>
          <a:p>
            <a:endParaRPr lang="en-US"/>
          </a:p>
        </p:txBody>
      </p:sp>
      <p:sp>
        <p:nvSpPr>
          <p:cNvPr id="9" name="Shape 7"/>
          <p:cNvSpPr/>
          <p:nvPr/>
        </p:nvSpPr>
        <p:spPr>
          <a:xfrm>
            <a:off x="6309360" y="1554480"/>
            <a:ext cx="5212080" cy="548640"/>
          </a:xfrm>
          <a:prstGeom prst="rect">
            <a:avLst/>
          </a:prstGeom>
          <a:solidFill>
            <a:srgbClr val="B5532E"/>
          </a:solidFill>
          <a:ln/>
        </p:spPr>
        <p:txBody>
          <a:bodyPr/>
          <a:lstStyle/>
          <a:p>
            <a:endParaRPr lang="en-US"/>
          </a:p>
        </p:txBody>
      </p:sp>
      <p:sp>
        <p:nvSpPr>
          <p:cNvPr id="10" name="Text 8"/>
          <p:cNvSpPr/>
          <p:nvPr/>
        </p:nvSpPr>
        <p:spPr>
          <a:xfrm>
            <a:off x="6583680" y="1554480"/>
            <a:ext cx="4663440" cy="5486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What my consistency check found</a:t>
            </a:r>
            <a:endParaRPr lang="en-US" sz="1350" dirty="0"/>
          </a:p>
        </p:txBody>
      </p:sp>
      <p:sp>
        <p:nvSpPr>
          <p:cNvPr id="11" name="Text 9"/>
          <p:cNvSpPr/>
          <p:nvPr/>
        </p:nvSpPr>
        <p:spPr>
          <a:xfrm>
            <a:off x="6583680" y="2212848"/>
            <a:ext cx="4754880" cy="1828800"/>
          </a:xfrm>
          <a:prstGeom prst="rect">
            <a:avLst/>
          </a:prstGeom>
          <a:noFill/>
          <a:ln/>
        </p:spPr>
        <p:txBody>
          <a:bodyPr wrap="square" lIns="0" tIns="0" rIns="0" bIns="0" rtlCol="0" anchor="t"/>
          <a:lstStyle/>
          <a:p>
            <a:pPr marL="342900" indent="-342900">
              <a:lnSpc>
                <a:spcPct val="108000"/>
              </a:lnSpc>
              <a:spcAft>
                <a:spcPts val="600"/>
              </a:spcAft>
              <a:buSzPct val="100000"/>
              <a:buChar char="•"/>
            </a:pPr>
            <a:r>
              <a:rPr lang="en-US" sz="1200" dirty="0">
                <a:solidFill>
                  <a:srgbClr val="1A2933"/>
                </a:solidFill>
                <a:latin typeface="Calibri" pitchFamily="34" charset="0"/>
                <a:ea typeface="Calibri" pitchFamily="34" charset="-122"/>
                <a:cs typeface="Calibri" pitchFamily="34" charset="-120"/>
              </a:rPr>
              <a:t>Scored the 48 sensor sites with my model: they averaged only the 42nd percentile, below random</a:t>
            </a:r>
            <a:endParaRPr lang="en-US" sz="1200" dirty="0"/>
          </a:p>
          <a:p>
            <a:pPr marL="342900" indent="-342900">
              <a:lnSpc>
                <a:spcPct val="108000"/>
              </a:lnSpc>
              <a:spcAft>
                <a:spcPts val="600"/>
              </a:spcAft>
              <a:buSzPct val="100000"/>
              <a:buChar char="•"/>
            </a:pPr>
            <a:r>
              <a:rPr lang="en-US" sz="1200" dirty="0">
                <a:solidFill>
                  <a:srgbClr val="1A2933"/>
                </a:solidFill>
                <a:latin typeface="Calibri" pitchFamily="34" charset="0"/>
                <a:ea typeface="Calibri" pitchFamily="34" charset="-122"/>
                <a:cs typeface="Calibri" pitchFamily="34" charset="-120"/>
              </a:rPr>
              <a:t>Model favors flood + vulnerability; the sensors were driven almost purely by tidal feasibility</a:t>
            </a:r>
            <a:endParaRPr lang="en-US" sz="1200" dirty="0"/>
          </a:p>
          <a:p>
            <a:pPr marL="342900" indent="-342900">
              <a:lnSpc>
                <a:spcPct val="108000"/>
              </a:lnSpc>
              <a:buSzPct val="100000"/>
              <a:buChar char="•"/>
            </a:pPr>
            <a:r>
              <a:rPr lang="en-US" sz="1200" b="1" dirty="0">
                <a:solidFill>
                  <a:srgbClr val="B5532E"/>
                </a:solidFill>
                <a:latin typeface="Calibri" pitchFamily="34" charset="0"/>
                <a:ea typeface="Calibri" pitchFamily="34" charset="-122"/>
                <a:cs typeface="Calibri" pitchFamily="34" charset="-120"/>
              </a:rPr>
              <a:t>They can't serve as the 'correct answer' to fit weights against</a:t>
            </a:r>
            <a:endParaRPr lang="en-US" sz="1200" dirty="0"/>
          </a:p>
        </p:txBody>
      </p:sp>
      <p:sp>
        <p:nvSpPr>
          <p:cNvPr id="12" name="Shape 10"/>
          <p:cNvSpPr/>
          <p:nvPr/>
        </p:nvSpPr>
        <p:spPr>
          <a:xfrm>
            <a:off x="640080" y="4389120"/>
            <a:ext cx="10881360" cy="1417320"/>
          </a:xfrm>
          <a:prstGeom prst="rect">
            <a:avLst/>
          </a:prstGeom>
          <a:solidFill>
            <a:srgbClr val="0C3D5E"/>
          </a:solidFill>
          <a:ln/>
          <a:effectLst>
            <a:outerShdw blurRad="63500" dist="25400" dir="5400000" algn="bl" rotWithShape="0">
              <a:srgbClr val="9DB0BA">
                <a:alpha val="35000"/>
              </a:srgbClr>
            </a:outerShdw>
          </a:effectLst>
        </p:spPr>
        <p:txBody>
          <a:bodyPr/>
          <a:lstStyle/>
          <a:p>
            <a:endParaRPr lang="en-US"/>
          </a:p>
        </p:txBody>
      </p:sp>
      <p:sp>
        <p:nvSpPr>
          <p:cNvPr id="13" name="Text 11"/>
          <p:cNvSpPr/>
          <p:nvPr/>
        </p:nvSpPr>
        <p:spPr>
          <a:xfrm>
            <a:off x="914400" y="4389120"/>
            <a:ext cx="10332720" cy="1417320"/>
          </a:xfrm>
          <a:prstGeom prst="rect">
            <a:avLst/>
          </a:prstGeom>
          <a:noFill/>
          <a:ln/>
        </p:spPr>
        <p:txBody>
          <a:bodyPr wrap="square" lIns="0" tIns="0" rIns="0" bIns="0" rtlCol="0" anchor="ctr"/>
          <a:lstStyle/>
          <a:p>
            <a:pPr marL="0" indent="0">
              <a:lnSpc>
                <a:spcPct val="115000"/>
              </a:lnSpc>
              <a:buNone/>
            </a:pPr>
            <a:r>
              <a:rPr lang="en-US" sz="1450" b="1" dirty="0">
                <a:solidFill>
                  <a:srgbClr val="7FC3DD"/>
                </a:solidFill>
                <a:latin typeface="Calibri" pitchFamily="34" charset="0"/>
                <a:ea typeface="Calibri" pitchFamily="34" charset="-122"/>
                <a:cs typeface="Calibri" pitchFamily="34" charset="-120"/>
              </a:rPr>
              <a:t>The reframe:  </a:t>
            </a:r>
            <a:r>
              <a:rPr lang="en-US" sz="1400" dirty="0">
                <a:solidFill>
                  <a:srgbClr val="FFFFFF"/>
                </a:solidFill>
                <a:latin typeface="Calibri" pitchFamily="34" charset="0"/>
                <a:ea typeface="Calibri" pitchFamily="34" charset="-122"/>
                <a:cs typeface="Calibri" pitchFamily="34" charset="-120"/>
              </a:rPr>
              <a:t>the mismatch isn't a failed validation. It shows the real network is feasibility-limited and systematically misses high-risk, vulnerable places. That gap is what the model exposes, and it's the second meaning of 'FloodGap'.</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155680" cy="548640"/>
          </a:xfrm>
          <a:prstGeom prst="rect">
            <a:avLst/>
          </a:prstGeom>
          <a:noFill/>
          <a:ln/>
        </p:spPr>
        <p:txBody>
          <a:bodyPr wrap="square" lIns="0" tIns="0" rIns="0" bIns="0" rtlCol="0" anchor="ctr"/>
          <a:lstStyle/>
          <a:p>
            <a:pPr marL="0" indent="0">
              <a:buNone/>
            </a:pPr>
            <a:r>
              <a:rPr lang="en-US" sz="2500" b="1" dirty="0">
                <a:solidFill>
                  <a:srgbClr val="0C3D5E"/>
                </a:solidFill>
                <a:latin typeface="Georgia" pitchFamily="34" charset="0"/>
                <a:ea typeface="Georgia" pitchFamily="34" charset="-122"/>
                <a:cs typeface="Georgia" pitchFamily="34" charset="-120"/>
              </a:rPr>
              <a:t>Problem 2: Houston Doesn't Flood Like Savannah</a:t>
            </a:r>
            <a:endParaRPr lang="en-US" sz="2500" dirty="0"/>
          </a:p>
        </p:txBody>
      </p:sp>
      <p:sp>
        <p:nvSpPr>
          <p:cNvPr id="3" name="Text 1"/>
          <p:cNvSpPr/>
          <p:nvPr/>
        </p:nvSpPr>
        <p:spPr>
          <a:xfrm>
            <a:off x="548640" y="859536"/>
            <a:ext cx="11155680" cy="384048"/>
          </a:xfrm>
          <a:prstGeom prst="rect">
            <a:avLst/>
          </a:prstGeom>
          <a:noFill/>
          <a:ln/>
        </p:spPr>
        <p:txBody>
          <a:bodyPr wrap="square" lIns="0" tIns="0" rIns="0" bIns="0" rtlCol="0" anchor="ctr"/>
          <a:lstStyle/>
          <a:p>
            <a:pPr marL="0" indent="0">
              <a:buNone/>
            </a:pPr>
            <a:r>
              <a:rPr lang="en-US" sz="1350" i="1" dirty="0">
                <a:solidFill>
                  <a:srgbClr val="5C6B73"/>
                </a:solidFill>
                <a:latin typeface="Calibri" pitchFamily="34" charset="0"/>
                <a:ea typeface="Calibri" pitchFamily="34" charset="-122"/>
                <a:cs typeface="Calibri" pitchFamily="34" charset="-120"/>
              </a:rPr>
              <a:t>Savannah is 90%+ tidal. Houston floods three ways.</a:t>
            </a:r>
            <a:endParaRPr lang="en-US" sz="1350" dirty="0"/>
          </a:p>
        </p:txBody>
      </p:sp>
      <p:pic>
        <p:nvPicPr>
          <p:cNvPr id="4" name="Image 0" descr="/mnt/user-data/outputs/houston_compound_gap_real.png"/>
          <p:cNvPicPr>
            <a:picLocks noChangeAspect="1"/>
          </p:cNvPicPr>
          <p:nvPr/>
        </p:nvPicPr>
        <p:blipFill>
          <a:blip r:embed="rId3"/>
          <a:stretch>
            <a:fillRect/>
          </a:stretch>
        </p:blipFill>
        <p:spPr>
          <a:xfrm>
            <a:off x="777240" y="1417320"/>
            <a:ext cx="7680960" cy="4370832"/>
          </a:xfrm>
          <a:prstGeom prst="rect">
            <a:avLst/>
          </a:prstGeom>
        </p:spPr>
      </p:pic>
      <p:sp>
        <p:nvSpPr>
          <p:cNvPr id="5" name="Shape 2"/>
          <p:cNvSpPr/>
          <p:nvPr/>
        </p:nvSpPr>
        <p:spPr>
          <a:xfrm>
            <a:off x="8686800" y="1554480"/>
            <a:ext cx="2834640" cy="4114800"/>
          </a:xfrm>
          <a:prstGeom prst="rect">
            <a:avLst/>
          </a:prstGeom>
          <a:solidFill>
            <a:srgbClr val="0C3D5E"/>
          </a:solidFill>
          <a:ln/>
          <a:effectLst>
            <a:outerShdw blurRad="63500" dist="25400" dir="5400000" algn="bl" rotWithShape="0">
              <a:srgbClr val="9DB0BA">
                <a:alpha val="35000"/>
              </a:srgbClr>
            </a:outerShdw>
          </a:effectLst>
        </p:spPr>
        <p:txBody>
          <a:bodyPr/>
          <a:lstStyle/>
          <a:p>
            <a:endParaRPr lang="en-US"/>
          </a:p>
        </p:txBody>
      </p:sp>
      <p:sp>
        <p:nvSpPr>
          <p:cNvPr id="6" name="Text 3"/>
          <p:cNvSpPr/>
          <p:nvPr/>
        </p:nvSpPr>
        <p:spPr>
          <a:xfrm>
            <a:off x="8869680" y="1737360"/>
            <a:ext cx="2468880" cy="365760"/>
          </a:xfrm>
          <a:prstGeom prst="rect">
            <a:avLst/>
          </a:prstGeom>
          <a:noFill/>
          <a:ln/>
        </p:spPr>
        <p:txBody>
          <a:bodyPr wrap="square" lIns="0" tIns="0" rIns="0" bIns="0" rtlCol="0" anchor="ctr"/>
          <a:lstStyle/>
          <a:p>
            <a:pPr marL="0" indent="0">
              <a:buNone/>
            </a:pPr>
            <a:r>
              <a:rPr lang="en-US" sz="1300" b="1" dirty="0">
                <a:solidFill>
                  <a:srgbClr val="7FC3DD"/>
                </a:solidFill>
                <a:latin typeface="Calibri" pitchFamily="34" charset="0"/>
                <a:ea typeface="Calibri" pitchFamily="34" charset="-122"/>
                <a:cs typeface="Calibri" pitchFamily="34" charset="-120"/>
              </a:rPr>
              <a:t>Tidal-only result</a:t>
            </a:r>
            <a:endParaRPr lang="en-US" sz="1300" dirty="0"/>
          </a:p>
        </p:txBody>
      </p:sp>
      <p:sp>
        <p:nvSpPr>
          <p:cNvPr id="7" name="Text 4"/>
          <p:cNvSpPr/>
          <p:nvPr/>
        </p:nvSpPr>
        <p:spPr>
          <a:xfrm>
            <a:off x="8869680" y="2148840"/>
            <a:ext cx="2468880" cy="822960"/>
          </a:xfrm>
          <a:prstGeom prst="rect">
            <a:avLst/>
          </a:prstGeom>
          <a:noFill/>
          <a:ln/>
        </p:spPr>
        <p:txBody>
          <a:bodyPr wrap="square" lIns="0" tIns="0" rIns="0" bIns="0" rtlCol="0" anchor="ctr"/>
          <a:lstStyle/>
          <a:p>
            <a:pPr marL="0" indent="0">
              <a:buNone/>
            </a:pPr>
            <a:r>
              <a:rPr lang="en-US" sz="4800" b="1" dirty="0">
                <a:solidFill>
                  <a:srgbClr val="F0CF8E"/>
                </a:solidFill>
                <a:latin typeface="Georgia" pitchFamily="34" charset="0"/>
                <a:ea typeface="Georgia" pitchFamily="34" charset="-122"/>
                <a:cs typeface="Georgia" pitchFamily="34" charset="-120"/>
              </a:rPr>
              <a:t>30×</a:t>
            </a:r>
            <a:endParaRPr lang="en-US" sz="4800" dirty="0"/>
          </a:p>
        </p:txBody>
      </p:sp>
      <p:sp>
        <p:nvSpPr>
          <p:cNvPr id="8" name="Text 5"/>
          <p:cNvSpPr/>
          <p:nvPr/>
        </p:nvSpPr>
        <p:spPr>
          <a:xfrm>
            <a:off x="8869680" y="3063240"/>
            <a:ext cx="2468880" cy="1005840"/>
          </a:xfrm>
          <a:prstGeom prst="rect">
            <a:avLst/>
          </a:prstGeom>
          <a:noFill/>
          <a:ln/>
        </p:spPr>
        <p:txBody>
          <a:bodyPr wrap="square" lIns="0" tIns="0" rIns="0" bIns="0" rtlCol="0" anchor="t"/>
          <a:lstStyle/>
          <a:p>
            <a:pPr marL="0" indent="0">
              <a:lnSpc>
                <a:spcPct val="110000"/>
              </a:lnSpc>
              <a:buNone/>
            </a:pPr>
            <a:r>
              <a:rPr lang="en-US" sz="1250" b="1" dirty="0">
                <a:solidFill>
                  <a:srgbClr val="FFFFFF"/>
                </a:solidFill>
                <a:latin typeface="Calibri" pitchFamily="34" charset="0"/>
                <a:ea typeface="Calibri" pitchFamily="34" charset="-122"/>
                <a:cs typeface="Calibri" pitchFamily="34" charset="-120"/>
              </a:rPr>
              <a:t>Galveston tracts entered the top 50 at 30× the rate of Harris County</a:t>
            </a:r>
            <a:endParaRPr lang="en-US" sz="1250" dirty="0"/>
          </a:p>
        </p:txBody>
      </p:sp>
      <p:sp>
        <p:nvSpPr>
          <p:cNvPr id="9" name="Text 6"/>
          <p:cNvSpPr/>
          <p:nvPr/>
        </p:nvSpPr>
        <p:spPr>
          <a:xfrm>
            <a:off x="8869680" y="4160520"/>
            <a:ext cx="2468880" cy="1371600"/>
          </a:xfrm>
          <a:prstGeom prst="rect">
            <a:avLst/>
          </a:prstGeom>
          <a:noFill/>
          <a:ln/>
        </p:spPr>
        <p:txBody>
          <a:bodyPr wrap="square" lIns="0" tIns="0" rIns="0" bIns="0" rtlCol="0" anchor="t"/>
          <a:lstStyle/>
          <a:p>
            <a:pPr marL="0" indent="0">
              <a:lnSpc>
                <a:spcPct val="112000"/>
              </a:lnSpc>
              <a:buNone/>
            </a:pPr>
            <a:r>
              <a:rPr lang="en-US" sz="1200" i="1" dirty="0">
                <a:solidFill>
                  <a:srgbClr val="C9DCE6"/>
                </a:solidFill>
                <a:latin typeface="Calibri" pitchFamily="34" charset="0"/>
                <a:ea typeface="Calibri" pitchFamily="34" charset="-122"/>
                <a:cs typeface="Calibri" pitchFamily="34" charset="-120"/>
              </a:rPr>
              <a:t>But Harvey's flooding was inland: stormwater and bayous. The model was blind to it.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0C3D5E"/>
        </a:solidFill>
        <a:effectLst/>
      </p:bgPr>
    </p:bg>
    <p:spTree>
      <p:nvGrpSpPr>
        <p:cNvPr id="1" name=""/>
        <p:cNvGrpSpPr/>
        <p:nvPr/>
      </p:nvGrpSpPr>
      <p:grpSpPr>
        <a:xfrm>
          <a:off x="0" y="0"/>
          <a:ext cx="0" cy="0"/>
          <a:chOff x="0" y="0"/>
          <a:chExt cx="0" cy="0"/>
        </a:xfrm>
      </p:grpSpPr>
      <p:sp>
        <p:nvSpPr>
          <p:cNvPr id="2" name="Text 0"/>
          <p:cNvSpPr/>
          <p:nvPr/>
        </p:nvSpPr>
        <p:spPr>
          <a:xfrm>
            <a:off x="822960" y="1371600"/>
            <a:ext cx="10515600" cy="64008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The Pivot</a:t>
            </a:r>
            <a:endParaRPr lang="en-US" sz="3000" dirty="0"/>
          </a:p>
        </p:txBody>
      </p:sp>
      <p:sp>
        <p:nvSpPr>
          <p:cNvPr id="3" name="Text 1"/>
          <p:cNvSpPr/>
          <p:nvPr/>
        </p:nvSpPr>
        <p:spPr>
          <a:xfrm>
            <a:off x="822960" y="2240280"/>
            <a:ext cx="10515600" cy="1280160"/>
          </a:xfrm>
          <a:prstGeom prst="rect">
            <a:avLst/>
          </a:prstGeom>
          <a:noFill/>
          <a:ln/>
        </p:spPr>
        <p:txBody>
          <a:bodyPr wrap="square" lIns="0" tIns="0" rIns="0" bIns="0" rtlCol="0" anchor="t"/>
          <a:lstStyle/>
          <a:p>
            <a:pPr marL="0" indent="0">
              <a:lnSpc>
                <a:spcPct val="125000"/>
              </a:lnSpc>
              <a:buNone/>
            </a:pPr>
            <a:r>
              <a:rPr lang="en-US" sz="2100" b="1" dirty="0">
                <a:solidFill>
                  <a:srgbClr val="F0CF8E"/>
                </a:solidFill>
                <a:latin typeface="Georgia" pitchFamily="34" charset="0"/>
                <a:ea typeface="Georgia" pitchFamily="34" charset="-122"/>
                <a:cs typeface="Georgia" pitchFamily="34" charset="-120"/>
              </a:rPr>
              <a:t>There is no 'correct' set of weights to validate</a:t>
            </a:r>
            <a:endParaRPr lang="en-US" sz="2100" dirty="0"/>
          </a:p>
        </p:txBody>
      </p:sp>
      <p:sp>
        <p:nvSpPr>
          <p:cNvPr id="4" name="Text 2"/>
          <p:cNvSpPr/>
          <p:nvPr/>
        </p:nvSpPr>
        <p:spPr>
          <a:xfrm>
            <a:off x="822960" y="3256472"/>
            <a:ext cx="9347583" cy="2377440"/>
          </a:xfrm>
          <a:prstGeom prst="rect">
            <a:avLst/>
          </a:prstGeom>
          <a:noFill/>
          <a:ln/>
        </p:spPr>
        <p:txBody>
          <a:bodyPr wrap="square" lIns="0" tIns="0" rIns="0" bIns="0" rtlCol="0" anchor="t"/>
          <a:lstStyle/>
          <a:p>
            <a:pPr marL="0" indent="0">
              <a:lnSpc>
                <a:spcPct val="118000"/>
              </a:lnSpc>
              <a:spcAft>
                <a:spcPts val="800"/>
              </a:spcAft>
              <a:buNone/>
            </a:pPr>
            <a:r>
              <a:rPr lang="en-US" sz="1550" dirty="0">
                <a:solidFill>
                  <a:srgbClr val="FFFFFF"/>
                </a:solidFill>
                <a:latin typeface="Calibri" pitchFamily="34" charset="0"/>
                <a:ea typeface="Calibri" pitchFamily="34" charset="-122"/>
                <a:cs typeface="Calibri" pitchFamily="34" charset="-120"/>
              </a:rPr>
              <a:t>If you prioritize tidal risk → these are the top 20 places.</a:t>
            </a:r>
            <a:endParaRPr lang="en-US" sz="1550" dirty="0"/>
          </a:p>
          <a:p>
            <a:pPr marL="0" indent="0">
              <a:lnSpc>
                <a:spcPct val="118000"/>
              </a:lnSpc>
              <a:spcAft>
                <a:spcPts val="800"/>
              </a:spcAft>
              <a:buNone/>
            </a:pPr>
            <a:r>
              <a:rPr lang="en-US" sz="1550" dirty="0">
                <a:solidFill>
                  <a:srgbClr val="FFFFFF"/>
                </a:solidFill>
                <a:latin typeface="Calibri" pitchFamily="34" charset="0"/>
                <a:ea typeface="Calibri" pitchFamily="34" charset="-122"/>
                <a:cs typeface="Calibri" pitchFamily="34" charset="-120"/>
              </a:rPr>
              <a:t>If you prioritize stormwater → those are the top 20.</a:t>
            </a:r>
            <a:endParaRPr lang="en-US" sz="1550" dirty="0"/>
          </a:p>
          <a:p>
            <a:pPr marL="0" indent="0">
              <a:lnSpc>
                <a:spcPct val="118000"/>
              </a:lnSpc>
              <a:spcAft>
                <a:spcPts val="1400"/>
              </a:spcAft>
              <a:buNone/>
            </a:pPr>
            <a:r>
              <a:rPr lang="en-US" sz="1550" dirty="0">
                <a:solidFill>
                  <a:srgbClr val="FFFFFF"/>
                </a:solidFill>
                <a:latin typeface="Calibri" pitchFamily="34" charset="0"/>
                <a:ea typeface="Calibri" pitchFamily="34" charset="-122"/>
                <a:cs typeface="Calibri" pitchFamily="34" charset="-120"/>
              </a:rPr>
              <a:t>If you prioritize vulnerable communities → different again.</a:t>
            </a:r>
          </a:p>
          <a:p>
            <a:pPr marL="0" indent="0">
              <a:lnSpc>
                <a:spcPct val="118000"/>
              </a:lnSpc>
              <a:spcAft>
                <a:spcPts val="1400"/>
              </a:spcAft>
              <a:buNone/>
            </a:pPr>
            <a:endParaRPr lang="en-US" sz="1550" dirty="0"/>
          </a:p>
          <a:p>
            <a:pPr marL="0" indent="0">
              <a:lnSpc>
                <a:spcPct val="118000"/>
              </a:lnSpc>
              <a:buNone/>
            </a:pPr>
            <a:r>
              <a:rPr lang="en-US" sz="1550" b="1" i="1" dirty="0">
                <a:solidFill>
                  <a:srgbClr val="7FC3DD"/>
                </a:solidFill>
                <a:latin typeface="Calibri" pitchFamily="34" charset="0"/>
                <a:ea typeface="Calibri" pitchFamily="34" charset="-122"/>
                <a:cs typeface="Calibri" pitchFamily="34" charset="-120"/>
              </a:rPr>
              <a:t>Weights become policy options. The model shows decision-makers the trade-offs, and finds the places that matter under EVERY priority.</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155680" cy="548640"/>
          </a:xfrm>
          <a:prstGeom prst="rect">
            <a:avLst/>
          </a:prstGeom>
          <a:noFill/>
          <a:ln/>
        </p:spPr>
        <p:txBody>
          <a:bodyPr wrap="square" lIns="0" tIns="0" rIns="0" bIns="0" rtlCol="0" anchor="ctr"/>
          <a:lstStyle/>
          <a:p>
            <a:pPr marL="0" indent="0">
              <a:buNone/>
            </a:pPr>
            <a:r>
              <a:rPr lang="en-US" sz="2500" b="1" dirty="0">
                <a:solidFill>
                  <a:srgbClr val="0C3D5E"/>
                </a:solidFill>
                <a:latin typeface="Georgia" pitchFamily="34" charset="0"/>
                <a:ea typeface="Georgia" pitchFamily="34" charset="-122"/>
                <a:cs typeface="Georgia" pitchFamily="34" charset="-120"/>
              </a:rPr>
              <a:t>Five Weighting Schemes</a:t>
            </a:r>
            <a:endParaRPr lang="en-US" sz="2500" dirty="0"/>
          </a:p>
        </p:txBody>
      </p:sp>
      <p:sp>
        <p:nvSpPr>
          <p:cNvPr id="3" name="Text 1"/>
          <p:cNvSpPr/>
          <p:nvPr/>
        </p:nvSpPr>
        <p:spPr>
          <a:xfrm>
            <a:off x="548640" y="859536"/>
            <a:ext cx="11155680" cy="384048"/>
          </a:xfrm>
          <a:prstGeom prst="rect">
            <a:avLst/>
          </a:prstGeom>
          <a:noFill/>
          <a:ln/>
        </p:spPr>
        <p:txBody>
          <a:bodyPr wrap="square" lIns="0" tIns="0" rIns="0" bIns="0" rtlCol="0" anchor="ctr"/>
          <a:lstStyle/>
          <a:p>
            <a:pPr marL="0" indent="0">
              <a:buNone/>
            </a:pPr>
            <a:r>
              <a:rPr lang="en-US" sz="1350" i="1" dirty="0">
                <a:solidFill>
                  <a:srgbClr val="5C6B73"/>
                </a:solidFill>
                <a:latin typeface="Calibri" pitchFamily="34" charset="0"/>
                <a:ea typeface="Calibri" pitchFamily="34" charset="-122"/>
                <a:cs typeface="Calibri" pitchFamily="34" charset="-120"/>
              </a:rPr>
              <a:t>Each scheme encodes a different priority, and the map changes with it</a:t>
            </a:r>
            <a:endParaRPr lang="en-US" sz="1350" dirty="0"/>
          </a:p>
        </p:txBody>
      </p:sp>
      <p:sp>
        <p:nvSpPr>
          <p:cNvPr id="4" name="Text 2"/>
          <p:cNvSpPr/>
          <p:nvPr/>
        </p:nvSpPr>
        <p:spPr>
          <a:xfrm>
            <a:off x="640080" y="1691640"/>
            <a:ext cx="502920" cy="384048"/>
          </a:xfrm>
          <a:prstGeom prst="rect">
            <a:avLst/>
          </a:prstGeom>
          <a:noFill/>
          <a:ln/>
        </p:spPr>
        <p:txBody>
          <a:bodyPr wrap="square" lIns="0" tIns="0" rIns="0" bIns="0" rtlCol="0" anchor="ctr"/>
          <a:lstStyle/>
          <a:p>
            <a:pPr marL="0" indent="0">
              <a:buNone/>
            </a:pPr>
            <a:endParaRPr lang="en-US" sz="1100" dirty="0"/>
          </a:p>
        </p:txBody>
      </p:sp>
      <p:sp>
        <p:nvSpPr>
          <p:cNvPr id="5" name="Text 3"/>
          <p:cNvSpPr/>
          <p:nvPr/>
        </p:nvSpPr>
        <p:spPr>
          <a:xfrm>
            <a:off x="1143000" y="1691640"/>
            <a:ext cx="2103120" cy="384048"/>
          </a:xfrm>
          <a:prstGeom prst="rect">
            <a:avLst/>
          </a:prstGeom>
          <a:noFill/>
          <a:ln/>
        </p:spPr>
        <p:txBody>
          <a:bodyPr wrap="square" lIns="0" tIns="0" rIns="0" bIns="0" rtlCol="0" anchor="ctr"/>
          <a:lstStyle/>
          <a:p>
            <a:pPr marL="0" indent="0">
              <a:buNone/>
            </a:pPr>
            <a:r>
              <a:rPr lang="en-US" sz="1100" b="1" dirty="0">
                <a:solidFill>
                  <a:srgbClr val="5C6B73"/>
                </a:solidFill>
                <a:latin typeface="Calibri" pitchFamily="34" charset="0"/>
                <a:ea typeface="Calibri" pitchFamily="34" charset="-122"/>
                <a:cs typeface="Calibri" pitchFamily="34" charset="-120"/>
              </a:rPr>
              <a:t>Scheme</a:t>
            </a:r>
            <a:endParaRPr lang="en-US" sz="1100" dirty="0"/>
          </a:p>
        </p:txBody>
      </p:sp>
      <p:sp>
        <p:nvSpPr>
          <p:cNvPr id="6" name="Text 4"/>
          <p:cNvSpPr/>
          <p:nvPr/>
        </p:nvSpPr>
        <p:spPr>
          <a:xfrm>
            <a:off x="3246120" y="1691640"/>
            <a:ext cx="2011680" cy="384048"/>
          </a:xfrm>
          <a:prstGeom prst="rect">
            <a:avLst/>
          </a:prstGeom>
          <a:noFill/>
          <a:ln/>
        </p:spPr>
        <p:txBody>
          <a:bodyPr wrap="square" lIns="0" tIns="0" rIns="0" bIns="0" rtlCol="0" anchor="ctr"/>
          <a:lstStyle/>
          <a:p>
            <a:pPr marL="0" indent="0">
              <a:buNone/>
            </a:pPr>
            <a:r>
              <a:rPr lang="en-US" sz="1100" b="1" dirty="0">
                <a:solidFill>
                  <a:srgbClr val="5C6B73"/>
                </a:solidFill>
                <a:latin typeface="Calibri" pitchFamily="34" charset="0"/>
                <a:ea typeface="Calibri" pitchFamily="34" charset="-122"/>
                <a:cs typeface="Calibri" pitchFamily="34" charset="-120"/>
              </a:rPr>
              <a:t>tidal/storm/river</a:t>
            </a:r>
            <a:endParaRPr lang="en-US" sz="1100" dirty="0"/>
          </a:p>
        </p:txBody>
      </p:sp>
      <p:sp>
        <p:nvSpPr>
          <p:cNvPr id="7" name="Text 5"/>
          <p:cNvSpPr/>
          <p:nvPr/>
        </p:nvSpPr>
        <p:spPr>
          <a:xfrm>
            <a:off x="5257800" y="1691640"/>
            <a:ext cx="1508760" cy="384048"/>
          </a:xfrm>
          <a:prstGeom prst="rect">
            <a:avLst/>
          </a:prstGeom>
          <a:noFill/>
          <a:ln/>
        </p:spPr>
        <p:txBody>
          <a:bodyPr wrap="square" lIns="0" tIns="0" rIns="0" bIns="0" rtlCol="0" anchor="ctr"/>
          <a:lstStyle/>
          <a:p>
            <a:pPr marL="0" indent="0">
              <a:buNone/>
            </a:pPr>
            <a:r>
              <a:rPr lang="en-US" sz="1100" b="1" dirty="0">
                <a:solidFill>
                  <a:srgbClr val="5C6B73"/>
                </a:solidFill>
                <a:latin typeface="Calibri" pitchFamily="34" charset="0"/>
                <a:ea typeface="Calibri" pitchFamily="34" charset="-122"/>
                <a:cs typeface="Calibri" pitchFamily="34" charset="-120"/>
              </a:rPr>
              <a:t>flood/vuln</a:t>
            </a:r>
            <a:endParaRPr lang="en-US" sz="1100" dirty="0"/>
          </a:p>
        </p:txBody>
      </p:sp>
      <p:sp>
        <p:nvSpPr>
          <p:cNvPr id="8" name="Text 6"/>
          <p:cNvSpPr/>
          <p:nvPr/>
        </p:nvSpPr>
        <p:spPr>
          <a:xfrm>
            <a:off x="6766560" y="1691640"/>
            <a:ext cx="1417320" cy="384048"/>
          </a:xfrm>
          <a:prstGeom prst="rect">
            <a:avLst/>
          </a:prstGeom>
          <a:noFill/>
          <a:ln/>
        </p:spPr>
        <p:txBody>
          <a:bodyPr wrap="square" lIns="0" tIns="0" rIns="0" bIns="0" rtlCol="0" anchor="ctr"/>
          <a:lstStyle/>
          <a:p>
            <a:pPr marL="0" indent="0">
              <a:buNone/>
            </a:pPr>
            <a:r>
              <a:rPr lang="en-US" sz="1100" b="1" dirty="0">
                <a:solidFill>
                  <a:srgbClr val="5C6B73"/>
                </a:solidFill>
                <a:latin typeface="Calibri" pitchFamily="34" charset="0"/>
                <a:ea typeface="Calibri" pitchFamily="34" charset="-122"/>
                <a:cs typeface="Calibri" pitchFamily="34" charset="-120"/>
              </a:rPr>
              <a:t>Harris/Galv</a:t>
            </a:r>
            <a:endParaRPr lang="en-US" sz="1100" dirty="0"/>
          </a:p>
        </p:txBody>
      </p:sp>
      <p:sp>
        <p:nvSpPr>
          <p:cNvPr id="9" name="Text 7"/>
          <p:cNvSpPr/>
          <p:nvPr/>
        </p:nvSpPr>
        <p:spPr>
          <a:xfrm>
            <a:off x="8183880" y="1691640"/>
            <a:ext cx="3429000" cy="384048"/>
          </a:xfrm>
          <a:prstGeom prst="rect">
            <a:avLst/>
          </a:prstGeom>
          <a:noFill/>
          <a:ln/>
        </p:spPr>
        <p:txBody>
          <a:bodyPr wrap="square" lIns="0" tIns="0" rIns="0" bIns="0" rtlCol="0" anchor="ctr"/>
          <a:lstStyle/>
          <a:p>
            <a:pPr marL="0" indent="0">
              <a:buNone/>
            </a:pPr>
            <a:r>
              <a:rPr lang="en-US" sz="1100" b="1" dirty="0">
                <a:solidFill>
                  <a:srgbClr val="5C6B73"/>
                </a:solidFill>
                <a:latin typeface="Calibri" pitchFamily="34" charset="0"/>
                <a:ea typeface="Calibri" pitchFamily="34" charset="-122"/>
                <a:cs typeface="Calibri" pitchFamily="34" charset="-120"/>
              </a:rPr>
              <a:t>Leading regions</a:t>
            </a:r>
            <a:endParaRPr lang="en-US" sz="1100" dirty="0"/>
          </a:p>
        </p:txBody>
      </p:sp>
      <p:sp>
        <p:nvSpPr>
          <p:cNvPr id="10" name="Shape 8"/>
          <p:cNvSpPr/>
          <p:nvPr/>
        </p:nvSpPr>
        <p:spPr>
          <a:xfrm>
            <a:off x="640080" y="2103120"/>
            <a:ext cx="10972800" cy="658368"/>
          </a:xfrm>
          <a:prstGeom prst="rect">
            <a:avLst/>
          </a:prstGeom>
          <a:solidFill>
            <a:srgbClr val="EEF3F6"/>
          </a:solidFill>
          <a:ln w="6350">
            <a:solidFill>
              <a:srgbClr val="E4EAEE"/>
            </a:solidFill>
            <a:prstDash val="solid"/>
          </a:ln>
        </p:spPr>
        <p:txBody>
          <a:bodyPr/>
          <a:lstStyle/>
          <a:p>
            <a:endParaRPr lang="en-US"/>
          </a:p>
        </p:txBody>
      </p:sp>
      <p:sp>
        <p:nvSpPr>
          <p:cNvPr id="11" name="Shape 9"/>
          <p:cNvSpPr/>
          <p:nvPr/>
        </p:nvSpPr>
        <p:spPr>
          <a:xfrm>
            <a:off x="640080" y="2103120"/>
            <a:ext cx="82296" cy="658368"/>
          </a:xfrm>
          <a:prstGeom prst="rect">
            <a:avLst/>
          </a:prstGeom>
          <a:solidFill>
            <a:srgbClr val="5C6B73"/>
          </a:solidFill>
          <a:ln/>
        </p:spPr>
        <p:txBody>
          <a:bodyPr/>
          <a:lstStyle/>
          <a:p>
            <a:endParaRPr lang="en-US"/>
          </a:p>
        </p:txBody>
      </p:sp>
      <p:sp>
        <p:nvSpPr>
          <p:cNvPr id="12" name="Text 10"/>
          <p:cNvSpPr/>
          <p:nvPr/>
        </p:nvSpPr>
        <p:spPr>
          <a:xfrm>
            <a:off x="749808" y="2103120"/>
            <a:ext cx="502920" cy="658368"/>
          </a:xfrm>
          <a:prstGeom prst="rect">
            <a:avLst/>
          </a:prstGeom>
          <a:noFill/>
          <a:ln/>
        </p:spPr>
        <p:txBody>
          <a:bodyPr wrap="square" lIns="0" tIns="0" rIns="0" bIns="0" rtlCol="0" anchor="ctr"/>
          <a:lstStyle/>
          <a:p>
            <a:pPr marL="0" indent="0">
              <a:buNone/>
            </a:pPr>
            <a:r>
              <a:rPr lang="en-US" sz="1150" b="1" dirty="0">
                <a:solidFill>
                  <a:srgbClr val="5C6B73"/>
                </a:solidFill>
                <a:latin typeface="Calibri" pitchFamily="34" charset="0"/>
                <a:ea typeface="Calibri" pitchFamily="34" charset="-122"/>
                <a:cs typeface="Calibri" pitchFamily="34" charset="-120"/>
              </a:rPr>
              <a:t>A</a:t>
            </a:r>
            <a:endParaRPr lang="en-US" sz="1150" dirty="0"/>
          </a:p>
        </p:txBody>
      </p:sp>
      <p:sp>
        <p:nvSpPr>
          <p:cNvPr id="13" name="Text 11"/>
          <p:cNvSpPr/>
          <p:nvPr/>
        </p:nvSpPr>
        <p:spPr>
          <a:xfrm>
            <a:off x="1143000" y="2103120"/>
            <a:ext cx="2103120" cy="658368"/>
          </a:xfrm>
          <a:prstGeom prst="rect">
            <a:avLst/>
          </a:prstGeom>
          <a:noFill/>
          <a:ln/>
        </p:spPr>
        <p:txBody>
          <a:bodyPr wrap="square" lIns="0" tIns="0" rIns="0" bIns="0" rtlCol="0" anchor="ctr"/>
          <a:lstStyle/>
          <a:p>
            <a:pPr marL="0" indent="0">
              <a:buNone/>
            </a:pPr>
            <a:r>
              <a:rPr lang="en-US" sz="1200" b="1" dirty="0">
                <a:solidFill>
                  <a:srgbClr val="1A2933"/>
                </a:solidFill>
                <a:latin typeface="Calibri" pitchFamily="34" charset="0"/>
                <a:ea typeface="Calibri" pitchFamily="34" charset="-122"/>
                <a:cs typeface="Calibri" pitchFamily="34" charset="-120"/>
              </a:rPr>
              <a:t>Tidal-only</a:t>
            </a:r>
            <a:endParaRPr lang="en-US" sz="1200" dirty="0"/>
          </a:p>
        </p:txBody>
      </p:sp>
      <p:sp>
        <p:nvSpPr>
          <p:cNvPr id="14" name="Text 12"/>
          <p:cNvSpPr/>
          <p:nvPr/>
        </p:nvSpPr>
        <p:spPr>
          <a:xfrm>
            <a:off x="3246120" y="2103120"/>
            <a:ext cx="201168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100 / 0 / 0</a:t>
            </a:r>
            <a:endParaRPr lang="en-US" sz="1150" dirty="0"/>
          </a:p>
        </p:txBody>
      </p:sp>
      <p:sp>
        <p:nvSpPr>
          <p:cNvPr id="15" name="Text 13"/>
          <p:cNvSpPr/>
          <p:nvPr/>
        </p:nvSpPr>
        <p:spPr>
          <a:xfrm>
            <a:off x="5257800" y="2103120"/>
            <a:ext cx="150876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60 / 40</a:t>
            </a:r>
            <a:endParaRPr lang="en-US" sz="1150" dirty="0"/>
          </a:p>
        </p:txBody>
      </p:sp>
      <p:sp>
        <p:nvSpPr>
          <p:cNvPr id="16" name="Text 14"/>
          <p:cNvSpPr/>
          <p:nvPr/>
        </p:nvSpPr>
        <p:spPr>
          <a:xfrm>
            <a:off x="6766560" y="2103120"/>
            <a:ext cx="141732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3 / 47</a:t>
            </a:r>
            <a:endParaRPr lang="en-US" sz="1150" dirty="0"/>
          </a:p>
        </p:txBody>
      </p:sp>
      <p:sp>
        <p:nvSpPr>
          <p:cNvPr id="17" name="Text 15"/>
          <p:cNvSpPr/>
          <p:nvPr/>
        </p:nvSpPr>
        <p:spPr>
          <a:xfrm>
            <a:off x="8183880" y="2103120"/>
            <a:ext cx="342900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Dickinson, Texas City, Galveston</a:t>
            </a:r>
            <a:endParaRPr lang="en-US" sz="1150" dirty="0"/>
          </a:p>
        </p:txBody>
      </p:sp>
      <p:sp>
        <p:nvSpPr>
          <p:cNvPr id="18" name="Shape 16"/>
          <p:cNvSpPr/>
          <p:nvPr/>
        </p:nvSpPr>
        <p:spPr>
          <a:xfrm>
            <a:off x="640080" y="2798064"/>
            <a:ext cx="10972800" cy="658368"/>
          </a:xfrm>
          <a:prstGeom prst="rect">
            <a:avLst/>
          </a:prstGeom>
          <a:solidFill>
            <a:srgbClr val="FFFFFF"/>
          </a:solidFill>
          <a:ln w="6350">
            <a:solidFill>
              <a:srgbClr val="E4EAEE"/>
            </a:solidFill>
            <a:prstDash val="solid"/>
          </a:ln>
        </p:spPr>
        <p:txBody>
          <a:bodyPr/>
          <a:lstStyle/>
          <a:p>
            <a:endParaRPr lang="en-US"/>
          </a:p>
        </p:txBody>
      </p:sp>
      <p:sp>
        <p:nvSpPr>
          <p:cNvPr id="19" name="Shape 17"/>
          <p:cNvSpPr/>
          <p:nvPr/>
        </p:nvSpPr>
        <p:spPr>
          <a:xfrm>
            <a:off x="640080" y="2798064"/>
            <a:ext cx="82296" cy="658368"/>
          </a:xfrm>
          <a:prstGeom prst="rect">
            <a:avLst/>
          </a:prstGeom>
          <a:solidFill>
            <a:srgbClr val="1C7293"/>
          </a:solidFill>
          <a:ln/>
        </p:spPr>
        <p:txBody>
          <a:bodyPr/>
          <a:lstStyle/>
          <a:p>
            <a:endParaRPr lang="en-US"/>
          </a:p>
        </p:txBody>
      </p:sp>
      <p:sp>
        <p:nvSpPr>
          <p:cNvPr id="20" name="Text 18"/>
          <p:cNvSpPr/>
          <p:nvPr/>
        </p:nvSpPr>
        <p:spPr>
          <a:xfrm>
            <a:off x="749808" y="2798064"/>
            <a:ext cx="502920" cy="658368"/>
          </a:xfrm>
          <a:prstGeom prst="rect">
            <a:avLst/>
          </a:prstGeom>
          <a:noFill/>
          <a:ln/>
        </p:spPr>
        <p:txBody>
          <a:bodyPr wrap="square" lIns="0" tIns="0" rIns="0" bIns="0" rtlCol="0" anchor="ctr"/>
          <a:lstStyle/>
          <a:p>
            <a:pPr marL="0" indent="0">
              <a:buNone/>
            </a:pPr>
            <a:r>
              <a:rPr lang="en-US" sz="1150" b="1" dirty="0">
                <a:solidFill>
                  <a:srgbClr val="1C7293"/>
                </a:solidFill>
                <a:latin typeface="Calibri" pitchFamily="34" charset="0"/>
                <a:ea typeface="Calibri" pitchFamily="34" charset="-122"/>
                <a:cs typeface="Calibri" pitchFamily="34" charset="-120"/>
              </a:rPr>
              <a:t>B</a:t>
            </a:r>
            <a:endParaRPr lang="en-US" sz="1150" dirty="0"/>
          </a:p>
        </p:txBody>
      </p:sp>
      <p:sp>
        <p:nvSpPr>
          <p:cNvPr id="21" name="Text 19"/>
          <p:cNvSpPr/>
          <p:nvPr/>
        </p:nvSpPr>
        <p:spPr>
          <a:xfrm>
            <a:off x="1143000" y="2798064"/>
            <a:ext cx="2103120" cy="658368"/>
          </a:xfrm>
          <a:prstGeom prst="rect">
            <a:avLst/>
          </a:prstGeom>
          <a:noFill/>
          <a:ln/>
        </p:spPr>
        <p:txBody>
          <a:bodyPr wrap="square" lIns="0" tIns="0" rIns="0" bIns="0" rtlCol="0" anchor="ctr"/>
          <a:lstStyle/>
          <a:p>
            <a:pPr marL="0" indent="0">
              <a:buNone/>
            </a:pPr>
            <a:r>
              <a:rPr lang="en-US" sz="1200" b="1" dirty="0">
                <a:solidFill>
                  <a:srgbClr val="1A2933"/>
                </a:solidFill>
                <a:latin typeface="Calibri" pitchFamily="34" charset="0"/>
                <a:ea typeface="Calibri" pitchFamily="34" charset="-122"/>
                <a:cs typeface="Calibri" pitchFamily="34" charset="-120"/>
              </a:rPr>
              <a:t>Equal sub-weights</a:t>
            </a:r>
            <a:endParaRPr lang="en-US" sz="1200" dirty="0"/>
          </a:p>
        </p:txBody>
      </p:sp>
      <p:sp>
        <p:nvSpPr>
          <p:cNvPr id="22" name="Text 20"/>
          <p:cNvSpPr/>
          <p:nvPr/>
        </p:nvSpPr>
        <p:spPr>
          <a:xfrm>
            <a:off x="3246120" y="2798064"/>
            <a:ext cx="201168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33 / 33 / 33</a:t>
            </a:r>
            <a:endParaRPr lang="en-US" sz="1150" dirty="0"/>
          </a:p>
        </p:txBody>
      </p:sp>
      <p:sp>
        <p:nvSpPr>
          <p:cNvPr id="23" name="Text 21"/>
          <p:cNvSpPr/>
          <p:nvPr/>
        </p:nvSpPr>
        <p:spPr>
          <a:xfrm>
            <a:off x="5257800" y="2798064"/>
            <a:ext cx="150876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60 / 40</a:t>
            </a:r>
            <a:endParaRPr lang="en-US" sz="1150" dirty="0"/>
          </a:p>
        </p:txBody>
      </p:sp>
      <p:sp>
        <p:nvSpPr>
          <p:cNvPr id="24" name="Text 22"/>
          <p:cNvSpPr/>
          <p:nvPr/>
        </p:nvSpPr>
        <p:spPr>
          <a:xfrm>
            <a:off x="6766560" y="2798064"/>
            <a:ext cx="141732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45 / 5</a:t>
            </a:r>
            <a:endParaRPr lang="en-US" sz="1150" dirty="0"/>
          </a:p>
        </p:txBody>
      </p:sp>
      <p:sp>
        <p:nvSpPr>
          <p:cNvPr id="25" name="Text 23"/>
          <p:cNvSpPr/>
          <p:nvPr/>
        </p:nvSpPr>
        <p:spPr>
          <a:xfrm>
            <a:off x="8183880" y="2798064"/>
            <a:ext cx="342900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Gulfton, East End, Texas City</a:t>
            </a:r>
            <a:endParaRPr lang="en-US" sz="1150" dirty="0"/>
          </a:p>
        </p:txBody>
      </p:sp>
      <p:sp>
        <p:nvSpPr>
          <p:cNvPr id="26" name="Shape 24"/>
          <p:cNvSpPr/>
          <p:nvPr/>
        </p:nvSpPr>
        <p:spPr>
          <a:xfrm>
            <a:off x="640080" y="3493008"/>
            <a:ext cx="10972800" cy="658368"/>
          </a:xfrm>
          <a:prstGeom prst="rect">
            <a:avLst/>
          </a:prstGeom>
          <a:solidFill>
            <a:srgbClr val="EEF3F6"/>
          </a:solidFill>
          <a:ln w="6350">
            <a:solidFill>
              <a:srgbClr val="E4EAEE"/>
            </a:solidFill>
            <a:prstDash val="solid"/>
          </a:ln>
        </p:spPr>
        <p:txBody>
          <a:bodyPr/>
          <a:lstStyle/>
          <a:p>
            <a:endParaRPr lang="en-US"/>
          </a:p>
        </p:txBody>
      </p:sp>
      <p:sp>
        <p:nvSpPr>
          <p:cNvPr id="27" name="Shape 25"/>
          <p:cNvSpPr/>
          <p:nvPr/>
        </p:nvSpPr>
        <p:spPr>
          <a:xfrm>
            <a:off x="640080" y="3493008"/>
            <a:ext cx="82296" cy="658368"/>
          </a:xfrm>
          <a:prstGeom prst="rect">
            <a:avLst/>
          </a:prstGeom>
          <a:solidFill>
            <a:srgbClr val="2E6B3E"/>
          </a:solidFill>
          <a:ln/>
        </p:spPr>
        <p:txBody>
          <a:bodyPr/>
          <a:lstStyle/>
          <a:p>
            <a:endParaRPr lang="en-US"/>
          </a:p>
        </p:txBody>
      </p:sp>
      <p:sp>
        <p:nvSpPr>
          <p:cNvPr id="28" name="Text 26"/>
          <p:cNvSpPr/>
          <p:nvPr/>
        </p:nvSpPr>
        <p:spPr>
          <a:xfrm>
            <a:off x="749808" y="3493008"/>
            <a:ext cx="502920" cy="658368"/>
          </a:xfrm>
          <a:prstGeom prst="rect">
            <a:avLst/>
          </a:prstGeom>
          <a:noFill/>
          <a:ln/>
        </p:spPr>
        <p:txBody>
          <a:bodyPr wrap="square" lIns="0" tIns="0" rIns="0" bIns="0" rtlCol="0" anchor="ctr"/>
          <a:lstStyle/>
          <a:p>
            <a:pPr marL="0" indent="0">
              <a:buNone/>
            </a:pPr>
            <a:r>
              <a:rPr lang="en-US" sz="1150" b="1" dirty="0">
                <a:solidFill>
                  <a:srgbClr val="2E6B3E"/>
                </a:solidFill>
                <a:latin typeface="Calibri" pitchFamily="34" charset="0"/>
                <a:ea typeface="Calibri" pitchFamily="34" charset="-122"/>
                <a:cs typeface="Calibri" pitchFamily="34" charset="-120"/>
              </a:rPr>
              <a:t>C</a:t>
            </a:r>
            <a:endParaRPr lang="en-US" sz="1150" dirty="0"/>
          </a:p>
        </p:txBody>
      </p:sp>
      <p:sp>
        <p:nvSpPr>
          <p:cNvPr id="29" name="Text 27"/>
          <p:cNvSpPr/>
          <p:nvPr/>
        </p:nvSpPr>
        <p:spPr>
          <a:xfrm>
            <a:off x="1143000" y="3493008"/>
            <a:ext cx="2103120" cy="658368"/>
          </a:xfrm>
          <a:prstGeom prst="rect">
            <a:avLst/>
          </a:prstGeom>
          <a:noFill/>
          <a:ln/>
        </p:spPr>
        <p:txBody>
          <a:bodyPr wrap="square" lIns="0" tIns="0" rIns="0" bIns="0" rtlCol="0" anchor="ctr"/>
          <a:lstStyle/>
          <a:p>
            <a:pPr marL="0" indent="0">
              <a:buNone/>
            </a:pPr>
            <a:r>
              <a:rPr lang="en-US" sz="1200" b="1" dirty="0">
                <a:solidFill>
                  <a:srgbClr val="1A2933"/>
                </a:solidFill>
                <a:latin typeface="Calibri" pitchFamily="34" charset="0"/>
                <a:ea typeface="Calibri" pitchFamily="34" charset="-122"/>
                <a:cs typeface="Calibri" pitchFamily="34" charset="-120"/>
              </a:rPr>
              <a:t>Harvey-informed</a:t>
            </a:r>
            <a:endParaRPr lang="en-US" sz="1200" dirty="0"/>
          </a:p>
        </p:txBody>
      </p:sp>
      <p:sp>
        <p:nvSpPr>
          <p:cNvPr id="30" name="Text 28"/>
          <p:cNvSpPr/>
          <p:nvPr/>
        </p:nvSpPr>
        <p:spPr>
          <a:xfrm>
            <a:off x="3246120" y="3493008"/>
            <a:ext cx="201168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25 / 50 / 25</a:t>
            </a:r>
            <a:endParaRPr lang="en-US" sz="1150" dirty="0"/>
          </a:p>
        </p:txBody>
      </p:sp>
      <p:sp>
        <p:nvSpPr>
          <p:cNvPr id="31" name="Text 29"/>
          <p:cNvSpPr/>
          <p:nvPr/>
        </p:nvSpPr>
        <p:spPr>
          <a:xfrm>
            <a:off x="5257800" y="3493008"/>
            <a:ext cx="150876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60 / 40</a:t>
            </a:r>
            <a:endParaRPr lang="en-US" sz="1150" dirty="0"/>
          </a:p>
        </p:txBody>
      </p:sp>
      <p:sp>
        <p:nvSpPr>
          <p:cNvPr id="32" name="Text 30"/>
          <p:cNvSpPr/>
          <p:nvPr/>
        </p:nvSpPr>
        <p:spPr>
          <a:xfrm>
            <a:off x="6766560" y="3493008"/>
            <a:ext cx="141732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48 / 2</a:t>
            </a:r>
            <a:endParaRPr lang="en-US" sz="1150" dirty="0"/>
          </a:p>
        </p:txBody>
      </p:sp>
      <p:sp>
        <p:nvSpPr>
          <p:cNvPr id="33" name="Text 31"/>
          <p:cNvSpPr/>
          <p:nvPr/>
        </p:nvSpPr>
        <p:spPr>
          <a:xfrm>
            <a:off x="8183880" y="3493008"/>
            <a:ext cx="342900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Gulfton, East End, Texas City</a:t>
            </a:r>
            <a:endParaRPr lang="en-US" sz="1150" dirty="0"/>
          </a:p>
        </p:txBody>
      </p:sp>
      <p:sp>
        <p:nvSpPr>
          <p:cNvPr id="34" name="Shape 32"/>
          <p:cNvSpPr/>
          <p:nvPr/>
        </p:nvSpPr>
        <p:spPr>
          <a:xfrm>
            <a:off x="640080" y="4187952"/>
            <a:ext cx="10972800" cy="658368"/>
          </a:xfrm>
          <a:prstGeom prst="rect">
            <a:avLst/>
          </a:prstGeom>
          <a:solidFill>
            <a:srgbClr val="FFFFFF"/>
          </a:solidFill>
          <a:ln w="6350">
            <a:solidFill>
              <a:srgbClr val="E4EAEE"/>
            </a:solidFill>
            <a:prstDash val="solid"/>
          </a:ln>
        </p:spPr>
        <p:txBody>
          <a:bodyPr/>
          <a:lstStyle/>
          <a:p>
            <a:endParaRPr lang="en-US"/>
          </a:p>
        </p:txBody>
      </p:sp>
      <p:sp>
        <p:nvSpPr>
          <p:cNvPr id="35" name="Shape 33"/>
          <p:cNvSpPr/>
          <p:nvPr/>
        </p:nvSpPr>
        <p:spPr>
          <a:xfrm>
            <a:off x="640080" y="4187952"/>
            <a:ext cx="82296" cy="658368"/>
          </a:xfrm>
          <a:prstGeom prst="rect">
            <a:avLst/>
          </a:prstGeom>
          <a:solidFill>
            <a:srgbClr val="2E6DA4"/>
          </a:solidFill>
          <a:ln/>
        </p:spPr>
        <p:txBody>
          <a:bodyPr/>
          <a:lstStyle/>
          <a:p>
            <a:endParaRPr lang="en-US"/>
          </a:p>
        </p:txBody>
      </p:sp>
      <p:sp>
        <p:nvSpPr>
          <p:cNvPr id="36" name="Text 34"/>
          <p:cNvSpPr/>
          <p:nvPr/>
        </p:nvSpPr>
        <p:spPr>
          <a:xfrm>
            <a:off x="749808" y="4187952"/>
            <a:ext cx="502920" cy="658368"/>
          </a:xfrm>
          <a:prstGeom prst="rect">
            <a:avLst/>
          </a:prstGeom>
          <a:noFill/>
          <a:ln/>
        </p:spPr>
        <p:txBody>
          <a:bodyPr wrap="square" lIns="0" tIns="0" rIns="0" bIns="0" rtlCol="0" anchor="ctr"/>
          <a:lstStyle/>
          <a:p>
            <a:pPr marL="0" indent="0">
              <a:buNone/>
            </a:pPr>
            <a:r>
              <a:rPr lang="en-US" sz="1150" b="1" dirty="0">
                <a:solidFill>
                  <a:srgbClr val="2E6DA4"/>
                </a:solidFill>
                <a:latin typeface="Calibri" pitchFamily="34" charset="0"/>
                <a:ea typeface="Calibri" pitchFamily="34" charset="-122"/>
                <a:cs typeface="Calibri" pitchFamily="34" charset="-120"/>
              </a:rPr>
              <a:t>D</a:t>
            </a:r>
            <a:endParaRPr lang="en-US" sz="1150" dirty="0"/>
          </a:p>
        </p:txBody>
      </p:sp>
      <p:sp>
        <p:nvSpPr>
          <p:cNvPr id="37" name="Text 35"/>
          <p:cNvSpPr/>
          <p:nvPr/>
        </p:nvSpPr>
        <p:spPr>
          <a:xfrm>
            <a:off x="1143000" y="4187952"/>
            <a:ext cx="2103120" cy="658368"/>
          </a:xfrm>
          <a:prstGeom prst="rect">
            <a:avLst/>
          </a:prstGeom>
          <a:noFill/>
          <a:ln/>
        </p:spPr>
        <p:txBody>
          <a:bodyPr wrap="square" lIns="0" tIns="0" rIns="0" bIns="0" rtlCol="0" anchor="ctr"/>
          <a:lstStyle/>
          <a:p>
            <a:pPr marL="0" indent="0">
              <a:buNone/>
            </a:pPr>
            <a:r>
              <a:rPr lang="en-US" sz="1200" b="1" dirty="0">
                <a:solidFill>
                  <a:srgbClr val="1A2933"/>
                </a:solidFill>
                <a:latin typeface="Calibri" pitchFamily="34" charset="0"/>
                <a:ea typeface="Calibri" pitchFamily="34" charset="-122"/>
                <a:cs typeface="Calibri" pitchFamily="34" charset="-120"/>
              </a:rPr>
              <a:t>Flood-dominant</a:t>
            </a:r>
            <a:endParaRPr lang="en-US" sz="1200" dirty="0"/>
          </a:p>
        </p:txBody>
      </p:sp>
      <p:sp>
        <p:nvSpPr>
          <p:cNvPr id="38" name="Text 36"/>
          <p:cNvSpPr/>
          <p:nvPr/>
        </p:nvSpPr>
        <p:spPr>
          <a:xfrm>
            <a:off x="3246120" y="4187952"/>
            <a:ext cx="201168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33 / 33 / 33</a:t>
            </a:r>
            <a:endParaRPr lang="en-US" sz="1150" dirty="0"/>
          </a:p>
        </p:txBody>
      </p:sp>
      <p:sp>
        <p:nvSpPr>
          <p:cNvPr id="39" name="Text 37"/>
          <p:cNvSpPr/>
          <p:nvPr/>
        </p:nvSpPr>
        <p:spPr>
          <a:xfrm>
            <a:off x="5257800" y="4187952"/>
            <a:ext cx="150876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80 / 20</a:t>
            </a:r>
            <a:endParaRPr lang="en-US" sz="1150" dirty="0"/>
          </a:p>
        </p:txBody>
      </p:sp>
      <p:sp>
        <p:nvSpPr>
          <p:cNvPr id="40" name="Text 38"/>
          <p:cNvSpPr/>
          <p:nvPr/>
        </p:nvSpPr>
        <p:spPr>
          <a:xfrm>
            <a:off x="6766560" y="4187952"/>
            <a:ext cx="141732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42 / 8</a:t>
            </a:r>
            <a:endParaRPr lang="en-US" sz="1150" dirty="0"/>
          </a:p>
        </p:txBody>
      </p:sp>
      <p:sp>
        <p:nvSpPr>
          <p:cNvPr id="41" name="Text 39"/>
          <p:cNvSpPr/>
          <p:nvPr/>
        </p:nvSpPr>
        <p:spPr>
          <a:xfrm>
            <a:off x="8183880" y="4187952"/>
            <a:ext cx="342900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Gulfton, East End, Texas City</a:t>
            </a:r>
            <a:endParaRPr lang="en-US" sz="1150" dirty="0"/>
          </a:p>
        </p:txBody>
      </p:sp>
      <p:sp>
        <p:nvSpPr>
          <p:cNvPr id="42" name="Shape 40"/>
          <p:cNvSpPr/>
          <p:nvPr/>
        </p:nvSpPr>
        <p:spPr>
          <a:xfrm>
            <a:off x="640080" y="4882896"/>
            <a:ext cx="10972800" cy="658368"/>
          </a:xfrm>
          <a:prstGeom prst="rect">
            <a:avLst/>
          </a:prstGeom>
          <a:solidFill>
            <a:srgbClr val="EEF3F6"/>
          </a:solidFill>
          <a:ln w="6350">
            <a:solidFill>
              <a:srgbClr val="E4EAEE"/>
            </a:solidFill>
            <a:prstDash val="solid"/>
          </a:ln>
        </p:spPr>
        <p:txBody>
          <a:bodyPr/>
          <a:lstStyle/>
          <a:p>
            <a:endParaRPr lang="en-US"/>
          </a:p>
        </p:txBody>
      </p:sp>
      <p:sp>
        <p:nvSpPr>
          <p:cNvPr id="43" name="Shape 41"/>
          <p:cNvSpPr/>
          <p:nvPr/>
        </p:nvSpPr>
        <p:spPr>
          <a:xfrm>
            <a:off x="640080" y="4882896"/>
            <a:ext cx="82296" cy="658368"/>
          </a:xfrm>
          <a:prstGeom prst="rect">
            <a:avLst/>
          </a:prstGeom>
          <a:solidFill>
            <a:srgbClr val="B5532E"/>
          </a:solidFill>
          <a:ln/>
        </p:spPr>
        <p:txBody>
          <a:bodyPr/>
          <a:lstStyle/>
          <a:p>
            <a:endParaRPr lang="en-US"/>
          </a:p>
        </p:txBody>
      </p:sp>
      <p:sp>
        <p:nvSpPr>
          <p:cNvPr id="44" name="Text 42"/>
          <p:cNvSpPr/>
          <p:nvPr/>
        </p:nvSpPr>
        <p:spPr>
          <a:xfrm>
            <a:off x="749808" y="4882896"/>
            <a:ext cx="502920" cy="658368"/>
          </a:xfrm>
          <a:prstGeom prst="rect">
            <a:avLst/>
          </a:prstGeom>
          <a:noFill/>
          <a:ln/>
        </p:spPr>
        <p:txBody>
          <a:bodyPr wrap="square" lIns="0" tIns="0" rIns="0" bIns="0" rtlCol="0" anchor="ctr"/>
          <a:lstStyle/>
          <a:p>
            <a:pPr marL="0" indent="0">
              <a:buNone/>
            </a:pPr>
            <a:r>
              <a:rPr lang="en-US" sz="1150" b="1" dirty="0">
                <a:solidFill>
                  <a:srgbClr val="B5532E"/>
                </a:solidFill>
                <a:latin typeface="Calibri" pitchFamily="34" charset="0"/>
                <a:ea typeface="Calibri" pitchFamily="34" charset="-122"/>
                <a:cs typeface="Calibri" pitchFamily="34" charset="-120"/>
              </a:rPr>
              <a:t>E</a:t>
            </a:r>
            <a:endParaRPr lang="en-US" sz="1150" dirty="0"/>
          </a:p>
        </p:txBody>
      </p:sp>
      <p:sp>
        <p:nvSpPr>
          <p:cNvPr id="45" name="Text 43"/>
          <p:cNvSpPr/>
          <p:nvPr/>
        </p:nvSpPr>
        <p:spPr>
          <a:xfrm>
            <a:off x="1143000" y="4882896"/>
            <a:ext cx="2103120" cy="658368"/>
          </a:xfrm>
          <a:prstGeom prst="rect">
            <a:avLst/>
          </a:prstGeom>
          <a:noFill/>
          <a:ln/>
        </p:spPr>
        <p:txBody>
          <a:bodyPr wrap="square" lIns="0" tIns="0" rIns="0" bIns="0" rtlCol="0" anchor="ctr"/>
          <a:lstStyle/>
          <a:p>
            <a:pPr marL="0" indent="0">
              <a:buNone/>
            </a:pPr>
            <a:r>
              <a:rPr lang="en-US" sz="1200" b="1" dirty="0">
                <a:solidFill>
                  <a:srgbClr val="1A2933"/>
                </a:solidFill>
                <a:latin typeface="Calibri" pitchFamily="34" charset="0"/>
                <a:ea typeface="Calibri" pitchFamily="34" charset="-122"/>
                <a:cs typeface="Calibri" pitchFamily="34" charset="-120"/>
              </a:rPr>
              <a:t>Equity-forward</a:t>
            </a:r>
            <a:endParaRPr lang="en-US" sz="1200" dirty="0"/>
          </a:p>
        </p:txBody>
      </p:sp>
      <p:sp>
        <p:nvSpPr>
          <p:cNvPr id="46" name="Text 44"/>
          <p:cNvSpPr/>
          <p:nvPr/>
        </p:nvSpPr>
        <p:spPr>
          <a:xfrm>
            <a:off x="3246120" y="4882896"/>
            <a:ext cx="201168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33 / 33 / 33</a:t>
            </a:r>
            <a:endParaRPr lang="en-US" sz="1150" dirty="0"/>
          </a:p>
        </p:txBody>
      </p:sp>
      <p:sp>
        <p:nvSpPr>
          <p:cNvPr id="47" name="Text 45"/>
          <p:cNvSpPr/>
          <p:nvPr/>
        </p:nvSpPr>
        <p:spPr>
          <a:xfrm>
            <a:off x="5257800" y="4882896"/>
            <a:ext cx="150876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50 / 50</a:t>
            </a:r>
            <a:endParaRPr lang="en-US" sz="1150" dirty="0"/>
          </a:p>
        </p:txBody>
      </p:sp>
      <p:sp>
        <p:nvSpPr>
          <p:cNvPr id="48" name="Text 46"/>
          <p:cNvSpPr/>
          <p:nvPr/>
        </p:nvSpPr>
        <p:spPr>
          <a:xfrm>
            <a:off x="6766560" y="4882896"/>
            <a:ext cx="141732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46 / 4</a:t>
            </a:r>
            <a:endParaRPr lang="en-US" sz="1150" dirty="0"/>
          </a:p>
        </p:txBody>
      </p:sp>
      <p:sp>
        <p:nvSpPr>
          <p:cNvPr id="49" name="Text 47"/>
          <p:cNvSpPr/>
          <p:nvPr/>
        </p:nvSpPr>
        <p:spPr>
          <a:xfrm>
            <a:off x="8183880" y="4882896"/>
            <a:ext cx="3429000" cy="658368"/>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Gulfton, Texas City, East End</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155680" cy="548640"/>
          </a:xfrm>
          <a:prstGeom prst="rect">
            <a:avLst/>
          </a:prstGeom>
          <a:noFill/>
          <a:ln/>
        </p:spPr>
        <p:txBody>
          <a:bodyPr wrap="square" lIns="0" tIns="0" rIns="0" bIns="0" rtlCol="0" anchor="ctr"/>
          <a:lstStyle/>
          <a:p>
            <a:pPr marL="0" indent="0">
              <a:buNone/>
            </a:pPr>
            <a:r>
              <a:rPr lang="en-US" sz="2500" b="1" dirty="0">
                <a:solidFill>
                  <a:srgbClr val="0C3D5E"/>
                </a:solidFill>
                <a:latin typeface="Georgia" pitchFamily="34" charset="0"/>
                <a:ea typeface="Georgia" pitchFamily="34" charset="-122"/>
                <a:cs typeface="Georgia" pitchFamily="34" charset="-120"/>
              </a:rPr>
              <a:t>Overlay All Five: the Robust Places Emerge</a:t>
            </a:r>
            <a:endParaRPr lang="en-US" sz="2500" dirty="0"/>
          </a:p>
        </p:txBody>
      </p:sp>
      <p:sp>
        <p:nvSpPr>
          <p:cNvPr id="3" name="Text 1"/>
          <p:cNvSpPr/>
          <p:nvPr/>
        </p:nvSpPr>
        <p:spPr>
          <a:xfrm>
            <a:off x="548640" y="859536"/>
            <a:ext cx="11155680" cy="384048"/>
          </a:xfrm>
          <a:prstGeom prst="rect">
            <a:avLst/>
          </a:prstGeom>
          <a:noFill/>
          <a:ln/>
        </p:spPr>
        <p:txBody>
          <a:bodyPr wrap="square" lIns="0" tIns="0" rIns="0" bIns="0" rtlCol="0" anchor="ctr"/>
          <a:lstStyle/>
          <a:p>
            <a:pPr marL="0" indent="0">
              <a:buNone/>
            </a:pPr>
            <a:r>
              <a:rPr lang="en-US" sz="1350" i="1" dirty="0">
                <a:solidFill>
                  <a:srgbClr val="5C6B73"/>
                </a:solidFill>
                <a:latin typeface="Calibri" pitchFamily="34" charset="0"/>
                <a:ea typeface="Calibri" pitchFamily="34" charset="-122"/>
                <a:cs typeface="Calibri" pitchFamily="34" charset="-120"/>
              </a:rPr>
              <a:t>How many of the five schemes put each tract in the top 50</a:t>
            </a:r>
            <a:endParaRPr lang="en-US" sz="1350" dirty="0"/>
          </a:p>
        </p:txBody>
      </p:sp>
      <p:pic>
        <p:nvPicPr>
          <p:cNvPr id="4" name="Image 0" descr="/mnt/user-data/outputs/scheme_overlay.png"/>
          <p:cNvPicPr>
            <a:picLocks noChangeAspect="1"/>
          </p:cNvPicPr>
          <p:nvPr/>
        </p:nvPicPr>
        <p:blipFill>
          <a:blip r:embed="rId3"/>
          <a:srcRect r="1004"/>
          <a:stretch>
            <a:fillRect/>
          </a:stretch>
        </p:blipFill>
        <p:spPr>
          <a:xfrm>
            <a:off x="640080" y="1371600"/>
            <a:ext cx="6381822" cy="5157216"/>
          </a:xfrm>
          <a:prstGeom prst="rect">
            <a:avLst/>
          </a:prstGeom>
        </p:spPr>
      </p:pic>
      <p:sp>
        <p:nvSpPr>
          <p:cNvPr id="5" name="Shape 2"/>
          <p:cNvSpPr/>
          <p:nvPr/>
        </p:nvSpPr>
        <p:spPr>
          <a:xfrm>
            <a:off x="7315200" y="1463040"/>
            <a:ext cx="4206240" cy="2240280"/>
          </a:xfrm>
          <a:prstGeom prst="rect">
            <a:avLst/>
          </a:prstGeom>
          <a:solidFill>
            <a:srgbClr val="EEF3F6"/>
          </a:solidFill>
          <a:ln w="12700">
            <a:solidFill>
              <a:srgbClr val="D5E0E6"/>
            </a:solidFill>
            <a:prstDash val="solid"/>
          </a:ln>
          <a:effectLst>
            <a:outerShdw blurRad="63500" dist="25400" dir="5400000" algn="bl" rotWithShape="0">
              <a:srgbClr val="9DB0BA">
                <a:alpha val="35000"/>
              </a:srgbClr>
            </a:outerShdw>
          </a:effectLst>
        </p:spPr>
        <p:txBody>
          <a:bodyPr/>
          <a:lstStyle/>
          <a:p>
            <a:endParaRPr lang="en-US"/>
          </a:p>
        </p:txBody>
      </p:sp>
      <p:sp>
        <p:nvSpPr>
          <p:cNvPr id="6" name="Text 3"/>
          <p:cNvSpPr/>
          <p:nvPr/>
        </p:nvSpPr>
        <p:spPr>
          <a:xfrm>
            <a:off x="7543800" y="1600200"/>
            <a:ext cx="3840480" cy="320040"/>
          </a:xfrm>
          <a:prstGeom prst="rect">
            <a:avLst/>
          </a:prstGeom>
          <a:noFill/>
          <a:ln/>
        </p:spPr>
        <p:txBody>
          <a:bodyPr wrap="square" lIns="0" tIns="0" rIns="0" bIns="0" rtlCol="0" anchor="ctr"/>
          <a:lstStyle/>
          <a:p>
            <a:pPr marL="0" indent="0">
              <a:buNone/>
            </a:pPr>
            <a:r>
              <a:rPr lang="en-US" sz="1350" b="1" dirty="0">
                <a:solidFill>
                  <a:srgbClr val="0C3D5E"/>
                </a:solidFill>
                <a:latin typeface="Calibri" pitchFamily="34" charset="0"/>
                <a:ea typeface="Calibri" pitchFamily="34" charset="-122"/>
                <a:cs typeface="Calibri" pitchFamily="34" charset="-120"/>
              </a:rPr>
              <a:t>Robustness tally</a:t>
            </a:r>
            <a:endParaRPr lang="en-US" sz="1350" dirty="0"/>
          </a:p>
        </p:txBody>
      </p:sp>
      <p:sp>
        <p:nvSpPr>
          <p:cNvPr id="7" name="Shape 4"/>
          <p:cNvSpPr/>
          <p:nvPr/>
        </p:nvSpPr>
        <p:spPr>
          <a:xfrm>
            <a:off x="7543800" y="1984248"/>
            <a:ext cx="146304" cy="146304"/>
          </a:xfrm>
          <a:prstGeom prst="rect">
            <a:avLst/>
          </a:prstGeom>
          <a:solidFill>
            <a:srgbClr val="C2001E"/>
          </a:solidFill>
          <a:ln/>
        </p:spPr>
        <p:txBody>
          <a:bodyPr/>
          <a:lstStyle/>
          <a:p>
            <a:endParaRPr lang="en-US"/>
          </a:p>
        </p:txBody>
      </p:sp>
      <p:sp>
        <p:nvSpPr>
          <p:cNvPr id="8" name="Text 5"/>
          <p:cNvSpPr/>
          <p:nvPr/>
        </p:nvSpPr>
        <p:spPr>
          <a:xfrm>
            <a:off x="7772400" y="1938528"/>
            <a:ext cx="2194560" cy="256032"/>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5 / 5 schemes</a:t>
            </a:r>
            <a:endParaRPr lang="en-US" sz="1150" dirty="0"/>
          </a:p>
        </p:txBody>
      </p:sp>
      <p:sp>
        <p:nvSpPr>
          <p:cNvPr id="9" name="Text 6"/>
          <p:cNvSpPr/>
          <p:nvPr/>
        </p:nvSpPr>
        <p:spPr>
          <a:xfrm>
            <a:off x="9966960" y="1938528"/>
            <a:ext cx="1463040" cy="256032"/>
          </a:xfrm>
          <a:prstGeom prst="rect">
            <a:avLst/>
          </a:prstGeom>
          <a:noFill/>
          <a:ln/>
        </p:spPr>
        <p:txBody>
          <a:bodyPr wrap="square" lIns="0" tIns="0" rIns="0" bIns="0" rtlCol="0" anchor="ctr"/>
          <a:lstStyle/>
          <a:p>
            <a:pPr marL="0" indent="0">
              <a:buNone/>
            </a:pPr>
            <a:r>
              <a:rPr lang="en-US" sz="1150" b="1" dirty="0">
                <a:solidFill>
                  <a:srgbClr val="0C3D5E"/>
                </a:solidFill>
                <a:latin typeface="Calibri" pitchFamily="34" charset="0"/>
                <a:ea typeface="Calibri" pitchFamily="34" charset="-122"/>
                <a:cs typeface="Calibri" pitchFamily="34" charset="-120"/>
              </a:rPr>
              <a:t>2 tracts</a:t>
            </a:r>
            <a:endParaRPr lang="en-US" sz="1150" dirty="0"/>
          </a:p>
        </p:txBody>
      </p:sp>
      <p:sp>
        <p:nvSpPr>
          <p:cNvPr id="10" name="Shape 7"/>
          <p:cNvSpPr/>
          <p:nvPr/>
        </p:nvSpPr>
        <p:spPr>
          <a:xfrm>
            <a:off x="7543800" y="2304288"/>
            <a:ext cx="146304" cy="146304"/>
          </a:xfrm>
          <a:prstGeom prst="rect">
            <a:avLst/>
          </a:prstGeom>
          <a:solidFill>
            <a:srgbClr val="F03C10"/>
          </a:solidFill>
          <a:ln/>
        </p:spPr>
        <p:txBody>
          <a:bodyPr/>
          <a:lstStyle/>
          <a:p>
            <a:endParaRPr lang="en-US"/>
          </a:p>
        </p:txBody>
      </p:sp>
      <p:sp>
        <p:nvSpPr>
          <p:cNvPr id="11" name="Text 8"/>
          <p:cNvSpPr/>
          <p:nvPr/>
        </p:nvSpPr>
        <p:spPr>
          <a:xfrm>
            <a:off x="7772400" y="2258568"/>
            <a:ext cx="2194560" cy="256032"/>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4 / 5</a:t>
            </a:r>
            <a:endParaRPr lang="en-US" sz="1150" dirty="0"/>
          </a:p>
        </p:txBody>
      </p:sp>
      <p:sp>
        <p:nvSpPr>
          <p:cNvPr id="12" name="Text 9"/>
          <p:cNvSpPr/>
          <p:nvPr/>
        </p:nvSpPr>
        <p:spPr>
          <a:xfrm>
            <a:off x="9966960" y="2258568"/>
            <a:ext cx="1463040" cy="256032"/>
          </a:xfrm>
          <a:prstGeom prst="rect">
            <a:avLst/>
          </a:prstGeom>
          <a:noFill/>
          <a:ln/>
        </p:spPr>
        <p:txBody>
          <a:bodyPr wrap="square" lIns="0" tIns="0" rIns="0" bIns="0" rtlCol="0" anchor="ctr"/>
          <a:lstStyle/>
          <a:p>
            <a:pPr marL="0" indent="0">
              <a:buNone/>
            </a:pPr>
            <a:r>
              <a:rPr lang="en-US" sz="1150" b="1" dirty="0">
                <a:solidFill>
                  <a:srgbClr val="0C3D5E"/>
                </a:solidFill>
                <a:latin typeface="Calibri" pitchFamily="34" charset="0"/>
                <a:ea typeface="Calibri" pitchFamily="34" charset="-122"/>
                <a:cs typeface="Calibri" pitchFamily="34" charset="-120"/>
              </a:rPr>
              <a:t>28 tracts</a:t>
            </a:r>
            <a:endParaRPr lang="en-US" sz="1150" dirty="0"/>
          </a:p>
        </p:txBody>
      </p:sp>
      <p:sp>
        <p:nvSpPr>
          <p:cNvPr id="13" name="Shape 10"/>
          <p:cNvSpPr/>
          <p:nvPr/>
        </p:nvSpPr>
        <p:spPr>
          <a:xfrm>
            <a:off x="7543800" y="2624328"/>
            <a:ext cx="146304" cy="146304"/>
          </a:xfrm>
          <a:prstGeom prst="rect">
            <a:avLst/>
          </a:prstGeom>
          <a:solidFill>
            <a:srgbClr val="FF7A1A"/>
          </a:solidFill>
          <a:ln/>
        </p:spPr>
        <p:txBody>
          <a:bodyPr/>
          <a:lstStyle/>
          <a:p>
            <a:endParaRPr lang="en-US"/>
          </a:p>
        </p:txBody>
      </p:sp>
      <p:sp>
        <p:nvSpPr>
          <p:cNvPr id="14" name="Text 11"/>
          <p:cNvSpPr/>
          <p:nvPr/>
        </p:nvSpPr>
        <p:spPr>
          <a:xfrm>
            <a:off x="7772400" y="2578608"/>
            <a:ext cx="2194560" cy="256032"/>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3 / 5</a:t>
            </a:r>
            <a:endParaRPr lang="en-US" sz="1150" dirty="0"/>
          </a:p>
        </p:txBody>
      </p:sp>
      <p:sp>
        <p:nvSpPr>
          <p:cNvPr id="15" name="Text 12"/>
          <p:cNvSpPr/>
          <p:nvPr/>
        </p:nvSpPr>
        <p:spPr>
          <a:xfrm>
            <a:off x="9966960" y="2578608"/>
            <a:ext cx="1463040" cy="256032"/>
          </a:xfrm>
          <a:prstGeom prst="rect">
            <a:avLst/>
          </a:prstGeom>
          <a:noFill/>
          <a:ln/>
        </p:spPr>
        <p:txBody>
          <a:bodyPr wrap="square" lIns="0" tIns="0" rIns="0" bIns="0" rtlCol="0" anchor="ctr"/>
          <a:lstStyle/>
          <a:p>
            <a:pPr marL="0" indent="0">
              <a:buNone/>
            </a:pPr>
            <a:r>
              <a:rPr lang="en-US" sz="1150" b="1" dirty="0">
                <a:solidFill>
                  <a:srgbClr val="0C3D5E"/>
                </a:solidFill>
                <a:latin typeface="Calibri" pitchFamily="34" charset="0"/>
                <a:ea typeface="Calibri" pitchFamily="34" charset="-122"/>
                <a:cs typeface="Calibri" pitchFamily="34" charset="-120"/>
              </a:rPr>
              <a:t>14 tracts</a:t>
            </a:r>
            <a:endParaRPr lang="en-US" sz="1150" dirty="0"/>
          </a:p>
        </p:txBody>
      </p:sp>
      <p:sp>
        <p:nvSpPr>
          <p:cNvPr id="16" name="Shape 13"/>
          <p:cNvSpPr/>
          <p:nvPr/>
        </p:nvSpPr>
        <p:spPr>
          <a:xfrm>
            <a:off x="7543800" y="2944368"/>
            <a:ext cx="146304" cy="146304"/>
          </a:xfrm>
          <a:prstGeom prst="rect">
            <a:avLst/>
          </a:prstGeom>
          <a:solidFill>
            <a:srgbClr val="FFB03A"/>
          </a:solidFill>
          <a:ln/>
        </p:spPr>
        <p:txBody>
          <a:bodyPr/>
          <a:lstStyle/>
          <a:p>
            <a:endParaRPr lang="en-US"/>
          </a:p>
        </p:txBody>
      </p:sp>
      <p:sp>
        <p:nvSpPr>
          <p:cNvPr id="17" name="Text 14"/>
          <p:cNvSpPr/>
          <p:nvPr/>
        </p:nvSpPr>
        <p:spPr>
          <a:xfrm>
            <a:off x="7772400" y="2898648"/>
            <a:ext cx="2194560" cy="256032"/>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2 / 5</a:t>
            </a:r>
            <a:endParaRPr lang="en-US" sz="1150" dirty="0"/>
          </a:p>
        </p:txBody>
      </p:sp>
      <p:sp>
        <p:nvSpPr>
          <p:cNvPr id="18" name="Text 15"/>
          <p:cNvSpPr/>
          <p:nvPr/>
        </p:nvSpPr>
        <p:spPr>
          <a:xfrm>
            <a:off x="9966960" y="2898648"/>
            <a:ext cx="1463040" cy="256032"/>
          </a:xfrm>
          <a:prstGeom prst="rect">
            <a:avLst/>
          </a:prstGeom>
          <a:noFill/>
          <a:ln/>
        </p:spPr>
        <p:txBody>
          <a:bodyPr wrap="square" lIns="0" tIns="0" rIns="0" bIns="0" rtlCol="0" anchor="ctr"/>
          <a:lstStyle/>
          <a:p>
            <a:pPr marL="0" indent="0">
              <a:buNone/>
            </a:pPr>
            <a:r>
              <a:rPr lang="en-US" sz="1150" b="1" dirty="0">
                <a:solidFill>
                  <a:srgbClr val="0C3D5E"/>
                </a:solidFill>
                <a:latin typeface="Calibri" pitchFamily="34" charset="0"/>
                <a:ea typeface="Calibri" pitchFamily="34" charset="-122"/>
                <a:cs typeface="Calibri" pitchFamily="34" charset="-120"/>
              </a:rPr>
              <a:t>17 tracts</a:t>
            </a:r>
            <a:endParaRPr lang="en-US" sz="1150" dirty="0"/>
          </a:p>
        </p:txBody>
      </p:sp>
      <p:sp>
        <p:nvSpPr>
          <p:cNvPr id="19" name="Shape 16"/>
          <p:cNvSpPr/>
          <p:nvPr/>
        </p:nvSpPr>
        <p:spPr>
          <a:xfrm>
            <a:off x="7543800" y="3264408"/>
            <a:ext cx="146304" cy="146304"/>
          </a:xfrm>
          <a:prstGeom prst="rect">
            <a:avLst/>
          </a:prstGeom>
          <a:solidFill>
            <a:srgbClr val="C99A00"/>
          </a:solidFill>
          <a:ln/>
        </p:spPr>
        <p:txBody>
          <a:bodyPr/>
          <a:lstStyle/>
          <a:p>
            <a:endParaRPr lang="en-US"/>
          </a:p>
        </p:txBody>
      </p:sp>
      <p:sp>
        <p:nvSpPr>
          <p:cNvPr id="20" name="Text 17"/>
          <p:cNvSpPr/>
          <p:nvPr/>
        </p:nvSpPr>
        <p:spPr>
          <a:xfrm>
            <a:off x="7772400" y="3218688"/>
            <a:ext cx="2194560" cy="256032"/>
          </a:xfrm>
          <a:prstGeom prst="rect">
            <a:avLst/>
          </a:prstGeom>
          <a:noFill/>
          <a:ln/>
        </p:spPr>
        <p:txBody>
          <a:bodyPr wrap="square" lIns="0" tIns="0" rIns="0" bIns="0" rtlCol="0" anchor="ctr"/>
          <a:lstStyle/>
          <a:p>
            <a:pPr marL="0" indent="0">
              <a:buNone/>
            </a:pPr>
            <a:r>
              <a:rPr lang="en-US" sz="1150" dirty="0">
                <a:solidFill>
                  <a:srgbClr val="1A2933"/>
                </a:solidFill>
                <a:latin typeface="Calibri" pitchFamily="34" charset="0"/>
                <a:ea typeface="Calibri" pitchFamily="34" charset="-122"/>
                <a:cs typeface="Calibri" pitchFamily="34" charset="-120"/>
              </a:rPr>
              <a:t>1 / 5</a:t>
            </a:r>
            <a:endParaRPr lang="en-US" sz="1150" dirty="0"/>
          </a:p>
        </p:txBody>
      </p:sp>
      <p:sp>
        <p:nvSpPr>
          <p:cNvPr id="21" name="Text 18"/>
          <p:cNvSpPr/>
          <p:nvPr/>
        </p:nvSpPr>
        <p:spPr>
          <a:xfrm>
            <a:off x="9966960" y="3218688"/>
            <a:ext cx="1463040" cy="256032"/>
          </a:xfrm>
          <a:prstGeom prst="rect">
            <a:avLst/>
          </a:prstGeom>
          <a:noFill/>
          <a:ln/>
        </p:spPr>
        <p:txBody>
          <a:bodyPr wrap="square" lIns="0" tIns="0" rIns="0" bIns="0" rtlCol="0" anchor="ctr"/>
          <a:lstStyle/>
          <a:p>
            <a:pPr marL="0" indent="0">
              <a:buNone/>
            </a:pPr>
            <a:r>
              <a:rPr lang="en-US" sz="1150" b="1" dirty="0">
                <a:solidFill>
                  <a:srgbClr val="0C3D5E"/>
                </a:solidFill>
                <a:latin typeface="Calibri" pitchFamily="34" charset="0"/>
                <a:ea typeface="Calibri" pitchFamily="34" charset="-122"/>
                <a:cs typeface="Calibri" pitchFamily="34" charset="-120"/>
              </a:rPr>
              <a:t>52 tracts</a:t>
            </a:r>
            <a:endParaRPr lang="en-US" sz="1150" dirty="0"/>
          </a:p>
        </p:txBody>
      </p:sp>
      <p:sp>
        <p:nvSpPr>
          <p:cNvPr id="22" name="Shape 19"/>
          <p:cNvSpPr/>
          <p:nvPr/>
        </p:nvSpPr>
        <p:spPr>
          <a:xfrm>
            <a:off x="7315200" y="3931920"/>
            <a:ext cx="4206240" cy="2606040"/>
          </a:xfrm>
          <a:prstGeom prst="rect">
            <a:avLst/>
          </a:prstGeom>
          <a:solidFill>
            <a:srgbClr val="0C3D5E"/>
          </a:solidFill>
          <a:ln/>
          <a:effectLst>
            <a:outerShdw blurRad="63500" dist="25400" dir="5400000" algn="bl" rotWithShape="0">
              <a:srgbClr val="9DB0BA">
                <a:alpha val="35000"/>
              </a:srgbClr>
            </a:outerShdw>
          </a:effectLst>
        </p:spPr>
        <p:txBody>
          <a:bodyPr/>
          <a:lstStyle/>
          <a:p>
            <a:endParaRPr lang="en-US"/>
          </a:p>
        </p:txBody>
      </p:sp>
      <p:sp>
        <p:nvSpPr>
          <p:cNvPr id="23" name="Text 20"/>
          <p:cNvSpPr/>
          <p:nvPr/>
        </p:nvSpPr>
        <p:spPr>
          <a:xfrm>
            <a:off x="7543800" y="4069080"/>
            <a:ext cx="3840480" cy="320040"/>
          </a:xfrm>
          <a:prstGeom prst="rect">
            <a:avLst/>
          </a:prstGeom>
          <a:noFill/>
          <a:ln/>
        </p:spPr>
        <p:txBody>
          <a:bodyPr wrap="square" lIns="0" tIns="0" rIns="0" bIns="0" rtlCol="0" anchor="ctr"/>
          <a:lstStyle/>
          <a:p>
            <a:pPr marL="0" indent="0">
              <a:buNone/>
            </a:pPr>
            <a:r>
              <a:rPr lang="en-US" sz="1350" b="1" dirty="0">
                <a:solidFill>
                  <a:srgbClr val="7FC3DD"/>
                </a:solidFill>
                <a:latin typeface="Calibri" pitchFamily="34" charset="0"/>
                <a:ea typeface="Calibri" pitchFamily="34" charset="-122"/>
                <a:cs typeface="Calibri" pitchFamily="34" charset="-120"/>
              </a:rPr>
              <a:t>Four robust clusters</a:t>
            </a:r>
            <a:endParaRPr lang="en-US" sz="1350" dirty="0"/>
          </a:p>
        </p:txBody>
      </p:sp>
      <p:sp>
        <p:nvSpPr>
          <p:cNvPr id="24" name="Text 21"/>
          <p:cNvSpPr/>
          <p:nvPr/>
        </p:nvSpPr>
        <p:spPr>
          <a:xfrm>
            <a:off x="7543800" y="4480560"/>
            <a:ext cx="3840480" cy="2011680"/>
          </a:xfrm>
          <a:prstGeom prst="rect">
            <a:avLst/>
          </a:prstGeom>
          <a:noFill/>
          <a:ln/>
        </p:spPr>
        <p:txBody>
          <a:bodyPr wrap="square" lIns="0" tIns="0" rIns="0" bIns="0" rtlCol="0" anchor="t"/>
          <a:lstStyle/>
          <a:p>
            <a:pPr marL="0" indent="0">
              <a:lnSpc>
                <a:spcPct val="110000"/>
              </a:lnSpc>
              <a:spcAft>
                <a:spcPts val="600"/>
              </a:spcAft>
              <a:buNone/>
            </a:pPr>
            <a:r>
              <a:rPr lang="en-US" sz="1250" b="1" dirty="0">
                <a:solidFill>
                  <a:srgbClr val="F0CF8E"/>
                </a:solidFill>
                <a:latin typeface="Calibri" pitchFamily="34" charset="0"/>
                <a:ea typeface="Calibri" pitchFamily="34" charset="-122"/>
                <a:cs typeface="Calibri" pitchFamily="34" charset="-120"/>
              </a:rPr>
              <a:t>Texas City / La Marque: in ALL 5 schemes</a:t>
            </a:r>
            <a:endParaRPr lang="en-US" sz="1250" dirty="0"/>
          </a:p>
          <a:p>
            <a:pPr marL="0" indent="0">
              <a:lnSpc>
                <a:spcPct val="110000"/>
              </a:lnSpc>
              <a:spcAft>
                <a:spcPts val="600"/>
              </a:spcAft>
              <a:buNone/>
            </a:pPr>
            <a:r>
              <a:rPr lang="en-US" sz="1250" dirty="0">
                <a:solidFill>
                  <a:srgbClr val="FFFFFF"/>
                </a:solidFill>
                <a:latin typeface="Calibri" pitchFamily="34" charset="0"/>
                <a:ea typeface="Calibri" pitchFamily="34" charset="-122"/>
                <a:cs typeface="Calibri" pitchFamily="34" charset="-120"/>
              </a:rPr>
              <a:t>Gulfton / Sharpstown: 4 of 5, largest cluster</a:t>
            </a:r>
            <a:endParaRPr lang="en-US" sz="1250" dirty="0"/>
          </a:p>
          <a:p>
            <a:pPr marL="0" indent="0">
              <a:lnSpc>
                <a:spcPct val="110000"/>
              </a:lnSpc>
              <a:spcAft>
                <a:spcPts val="600"/>
              </a:spcAft>
              <a:buNone/>
            </a:pPr>
            <a:r>
              <a:rPr lang="en-US" sz="1250" dirty="0">
                <a:solidFill>
                  <a:srgbClr val="FFFFFF"/>
                </a:solidFill>
                <a:latin typeface="Calibri" pitchFamily="34" charset="0"/>
                <a:ea typeface="Calibri" pitchFamily="34" charset="-122"/>
                <a:cs typeface="Calibri" pitchFamily="34" charset="-120"/>
              </a:rPr>
              <a:t>East End / Ship Channel: 4 of 5</a:t>
            </a:r>
            <a:endParaRPr lang="en-US" sz="1250" dirty="0"/>
          </a:p>
          <a:p>
            <a:pPr marL="0" indent="0">
              <a:lnSpc>
                <a:spcPct val="110000"/>
              </a:lnSpc>
              <a:spcAft>
                <a:spcPts val="800"/>
              </a:spcAft>
              <a:buNone/>
            </a:pPr>
            <a:r>
              <a:rPr lang="en-US" sz="1250" dirty="0">
                <a:solidFill>
                  <a:srgbClr val="FFFFFF"/>
                </a:solidFill>
                <a:latin typeface="Calibri" pitchFamily="34" charset="0"/>
                <a:ea typeface="Calibri" pitchFamily="34" charset="-122"/>
                <a:cs typeface="Calibri" pitchFamily="34" charset="-120"/>
              </a:rPr>
              <a:t>Kashmere / Fifth Ward: highest SVI (0.91)</a:t>
            </a:r>
            <a:endParaRPr lang="en-US" sz="1250" dirty="0"/>
          </a:p>
          <a:p>
            <a:pPr marL="0" indent="0">
              <a:lnSpc>
                <a:spcPct val="110000"/>
              </a:lnSpc>
              <a:buNone/>
            </a:pPr>
            <a:r>
              <a:rPr lang="en-US" sz="1150" i="1" dirty="0">
                <a:solidFill>
                  <a:srgbClr val="C9DCE6"/>
                </a:solidFill>
                <a:latin typeface="Calibri" pitchFamily="34" charset="0"/>
                <a:ea typeface="Calibri" pitchFamily="34" charset="-122"/>
                <a:cs typeface="Calibri" pitchFamily="34" charset="-120"/>
              </a:rPr>
              <a:t>These are robust: high priority no matter how you weigh.</a:t>
            </a:r>
            <a:endParaRPr lang="en-US" sz="12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155680" cy="548640"/>
          </a:xfrm>
          <a:prstGeom prst="rect">
            <a:avLst/>
          </a:prstGeom>
          <a:noFill/>
          <a:ln/>
        </p:spPr>
        <p:txBody>
          <a:bodyPr wrap="square" lIns="0" tIns="0" rIns="0" bIns="0" rtlCol="0" anchor="ctr"/>
          <a:lstStyle/>
          <a:p>
            <a:pPr marL="0" indent="0">
              <a:buNone/>
            </a:pPr>
            <a:r>
              <a:rPr lang="en-US" sz="2500" b="1" dirty="0">
                <a:solidFill>
                  <a:srgbClr val="0C3D5E"/>
                </a:solidFill>
                <a:latin typeface="Georgia" pitchFamily="34" charset="0"/>
                <a:ea typeface="Georgia" pitchFamily="34" charset="-122"/>
                <a:cs typeface="Georgia" pitchFamily="34" charset="-120"/>
              </a:rPr>
              <a:t>Zooming Into the Clusters</a:t>
            </a:r>
            <a:endParaRPr lang="en-US" sz="2500" dirty="0"/>
          </a:p>
        </p:txBody>
      </p:sp>
      <p:sp>
        <p:nvSpPr>
          <p:cNvPr id="3" name="Text 1"/>
          <p:cNvSpPr/>
          <p:nvPr/>
        </p:nvSpPr>
        <p:spPr>
          <a:xfrm>
            <a:off x="548640" y="859536"/>
            <a:ext cx="11155680" cy="384048"/>
          </a:xfrm>
          <a:prstGeom prst="rect">
            <a:avLst/>
          </a:prstGeom>
          <a:noFill/>
          <a:ln/>
        </p:spPr>
        <p:txBody>
          <a:bodyPr wrap="square" lIns="0" tIns="0" rIns="0" bIns="0" rtlCol="0" anchor="ctr"/>
          <a:lstStyle/>
          <a:p>
            <a:pPr marL="0" indent="0">
              <a:buNone/>
            </a:pPr>
            <a:r>
              <a:rPr lang="en-US" sz="1350" i="1" dirty="0">
                <a:solidFill>
                  <a:srgbClr val="5C6B73"/>
                </a:solidFill>
                <a:latin typeface="Calibri" pitchFamily="34" charset="0"/>
                <a:ea typeface="Calibri" pitchFamily="34" charset="-122"/>
                <a:cs typeface="Calibri" pitchFamily="34" charset="-120"/>
              </a:rPr>
              <a:t>Each cluster has its own character, and its own sensor type</a:t>
            </a:r>
            <a:endParaRPr lang="en-US" sz="1350" dirty="0"/>
          </a:p>
        </p:txBody>
      </p:sp>
      <p:pic>
        <p:nvPicPr>
          <p:cNvPr id="4" name="Image 0" descr="/mnt/user-data/outputs/zoom_gulfton.png"/>
          <p:cNvPicPr>
            <a:picLocks noChangeAspect="1"/>
          </p:cNvPicPr>
          <p:nvPr/>
        </p:nvPicPr>
        <p:blipFill>
          <a:blip r:embed="rId3"/>
          <a:stretch>
            <a:fillRect/>
          </a:stretch>
        </p:blipFill>
        <p:spPr>
          <a:xfrm>
            <a:off x="548640" y="1371600"/>
            <a:ext cx="4617720" cy="4617720"/>
          </a:xfrm>
          <a:prstGeom prst="rect">
            <a:avLst/>
          </a:prstGeom>
        </p:spPr>
      </p:pic>
      <p:sp>
        <p:nvSpPr>
          <p:cNvPr id="5" name="Text 2"/>
          <p:cNvSpPr/>
          <p:nvPr/>
        </p:nvSpPr>
        <p:spPr>
          <a:xfrm>
            <a:off x="548640" y="6035040"/>
            <a:ext cx="4617720" cy="365760"/>
          </a:xfrm>
          <a:prstGeom prst="rect">
            <a:avLst/>
          </a:prstGeom>
          <a:noFill/>
          <a:ln/>
        </p:spPr>
        <p:txBody>
          <a:bodyPr wrap="square" lIns="0" tIns="0" rIns="0" bIns="0" rtlCol="0" anchor="ctr"/>
          <a:lstStyle/>
          <a:p>
            <a:pPr marL="0" indent="0" algn="ctr">
              <a:buNone/>
            </a:pPr>
            <a:r>
              <a:rPr lang="en-US" sz="1050" i="1" dirty="0">
                <a:solidFill>
                  <a:srgbClr val="5C6B73"/>
                </a:solidFill>
                <a:latin typeface="Calibri" pitchFamily="34" charset="0"/>
                <a:ea typeface="Calibri" pitchFamily="34" charset="-122"/>
                <a:cs typeface="Calibri" pitchFamily="34" charset="-120"/>
              </a:rPr>
              <a:t>Gulfton under Harvey-informed weights: 17 of the top 20 sit here</a:t>
            </a:r>
            <a:endParaRPr lang="en-US" sz="1050" dirty="0"/>
          </a:p>
        </p:txBody>
      </p:sp>
      <p:sp>
        <p:nvSpPr>
          <p:cNvPr id="6" name="Shape 3"/>
          <p:cNvSpPr/>
          <p:nvPr/>
        </p:nvSpPr>
        <p:spPr>
          <a:xfrm>
            <a:off x="5486400" y="1463040"/>
            <a:ext cx="6035040" cy="2194560"/>
          </a:xfrm>
          <a:prstGeom prst="rect">
            <a:avLst/>
          </a:prstGeom>
          <a:solidFill>
            <a:srgbClr val="EEF3F6"/>
          </a:solidFill>
          <a:ln w="16510">
            <a:solidFill>
              <a:srgbClr val="2E6DA4"/>
            </a:solidFill>
            <a:prstDash val="solid"/>
          </a:ln>
          <a:effectLst>
            <a:outerShdw blurRad="63500" dist="25400" dir="5400000" algn="bl" rotWithShape="0">
              <a:srgbClr val="9DB0BA">
                <a:alpha val="35000"/>
              </a:srgbClr>
            </a:outerShdw>
          </a:effectLst>
        </p:spPr>
        <p:txBody>
          <a:bodyPr/>
          <a:lstStyle/>
          <a:p>
            <a:endParaRPr lang="en-US"/>
          </a:p>
        </p:txBody>
      </p:sp>
      <p:sp>
        <p:nvSpPr>
          <p:cNvPr id="7" name="Shape 4"/>
          <p:cNvSpPr/>
          <p:nvPr/>
        </p:nvSpPr>
        <p:spPr>
          <a:xfrm>
            <a:off x="5486400" y="1463040"/>
            <a:ext cx="6035040" cy="530352"/>
          </a:xfrm>
          <a:prstGeom prst="rect">
            <a:avLst/>
          </a:prstGeom>
          <a:solidFill>
            <a:srgbClr val="2E6DA4"/>
          </a:solidFill>
          <a:ln/>
        </p:spPr>
        <p:txBody>
          <a:bodyPr/>
          <a:lstStyle/>
          <a:p>
            <a:endParaRPr lang="en-US"/>
          </a:p>
        </p:txBody>
      </p:sp>
      <p:sp>
        <p:nvSpPr>
          <p:cNvPr id="8" name="Text 5"/>
          <p:cNvSpPr/>
          <p:nvPr/>
        </p:nvSpPr>
        <p:spPr>
          <a:xfrm>
            <a:off x="5715000" y="1463040"/>
            <a:ext cx="5577840" cy="53035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Water-level sensor  →  tidal / riverine clusters</a:t>
            </a:r>
            <a:endParaRPr lang="en-US" sz="1350" dirty="0"/>
          </a:p>
        </p:txBody>
      </p:sp>
      <p:sp>
        <p:nvSpPr>
          <p:cNvPr id="9" name="Text 6"/>
          <p:cNvSpPr/>
          <p:nvPr/>
        </p:nvSpPr>
        <p:spPr>
          <a:xfrm>
            <a:off x="5715000" y="2103120"/>
            <a:ext cx="5577840" cy="1417320"/>
          </a:xfrm>
          <a:prstGeom prst="rect">
            <a:avLst/>
          </a:prstGeom>
          <a:noFill/>
          <a:ln/>
        </p:spPr>
        <p:txBody>
          <a:bodyPr wrap="square" lIns="0" tIns="0" rIns="0" bIns="0" rtlCol="0" anchor="t"/>
          <a:lstStyle/>
          <a:p>
            <a:pPr marL="0" indent="0">
              <a:lnSpc>
                <a:spcPct val="112000"/>
              </a:lnSpc>
              <a:buNone/>
            </a:pPr>
            <a:r>
              <a:rPr lang="en-US" sz="1200" dirty="0">
                <a:solidFill>
                  <a:srgbClr val="1A2933"/>
                </a:solidFill>
                <a:latin typeface="Calibri" pitchFamily="34" charset="0"/>
                <a:ea typeface="Calibri" pitchFamily="34" charset="-122"/>
                <a:cs typeface="Calibri" pitchFamily="34" charset="-120"/>
              </a:rPr>
              <a:t>Texas City, East End, Dickinson. Mounted on bridges, culverts, dike structures over the water, like CEAR Hub's. Needs a waterway and clearance above base flood elevation.</a:t>
            </a:r>
            <a:endParaRPr lang="en-US" sz="1200" dirty="0"/>
          </a:p>
        </p:txBody>
      </p:sp>
      <p:sp>
        <p:nvSpPr>
          <p:cNvPr id="10" name="Shape 7"/>
          <p:cNvSpPr/>
          <p:nvPr/>
        </p:nvSpPr>
        <p:spPr>
          <a:xfrm>
            <a:off x="5486400" y="3840480"/>
            <a:ext cx="6035040" cy="2194560"/>
          </a:xfrm>
          <a:prstGeom prst="rect">
            <a:avLst/>
          </a:prstGeom>
          <a:solidFill>
            <a:srgbClr val="EEF3F6"/>
          </a:solidFill>
          <a:ln w="16510">
            <a:solidFill>
              <a:srgbClr val="B5532E"/>
            </a:solidFill>
            <a:prstDash val="solid"/>
          </a:ln>
          <a:effectLst>
            <a:outerShdw blurRad="63500" dist="25400" dir="5400000" algn="bl" rotWithShape="0">
              <a:srgbClr val="9DB0BA">
                <a:alpha val="35000"/>
              </a:srgbClr>
            </a:outerShdw>
          </a:effectLst>
        </p:spPr>
        <p:txBody>
          <a:bodyPr/>
          <a:lstStyle/>
          <a:p>
            <a:endParaRPr lang="en-US"/>
          </a:p>
        </p:txBody>
      </p:sp>
      <p:sp>
        <p:nvSpPr>
          <p:cNvPr id="11" name="Shape 8"/>
          <p:cNvSpPr/>
          <p:nvPr/>
        </p:nvSpPr>
        <p:spPr>
          <a:xfrm>
            <a:off x="5486400" y="3840480"/>
            <a:ext cx="6035040" cy="530352"/>
          </a:xfrm>
          <a:prstGeom prst="rect">
            <a:avLst/>
          </a:prstGeom>
          <a:solidFill>
            <a:srgbClr val="B5532E"/>
          </a:solidFill>
          <a:ln/>
        </p:spPr>
        <p:txBody>
          <a:bodyPr/>
          <a:lstStyle/>
          <a:p>
            <a:endParaRPr lang="en-US"/>
          </a:p>
        </p:txBody>
      </p:sp>
      <p:sp>
        <p:nvSpPr>
          <p:cNvPr id="12" name="Text 9"/>
          <p:cNvSpPr/>
          <p:nvPr/>
        </p:nvSpPr>
        <p:spPr>
          <a:xfrm>
            <a:off x="5715000" y="3840480"/>
            <a:ext cx="5577840" cy="530352"/>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Street-light sensor  →  stormwater clusters</a:t>
            </a:r>
            <a:endParaRPr lang="en-US" sz="1350" dirty="0"/>
          </a:p>
        </p:txBody>
      </p:sp>
      <p:sp>
        <p:nvSpPr>
          <p:cNvPr id="13" name="Text 10"/>
          <p:cNvSpPr/>
          <p:nvPr/>
        </p:nvSpPr>
        <p:spPr>
          <a:xfrm>
            <a:off x="5715000" y="4480560"/>
            <a:ext cx="5577840" cy="1417320"/>
          </a:xfrm>
          <a:prstGeom prst="rect">
            <a:avLst/>
          </a:prstGeom>
          <a:noFill/>
          <a:ln/>
        </p:spPr>
        <p:txBody>
          <a:bodyPr wrap="square" lIns="0" tIns="0" rIns="0" bIns="0" rtlCol="0" anchor="t"/>
          <a:lstStyle/>
          <a:p>
            <a:pPr marL="0" indent="0">
              <a:lnSpc>
                <a:spcPct val="112000"/>
              </a:lnSpc>
              <a:buNone/>
            </a:pPr>
            <a:r>
              <a:rPr lang="en-US" sz="1200" dirty="0">
                <a:solidFill>
                  <a:srgbClr val="1A2933"/>
                </a:solidFill>
                <a:latin typeface="Calibri" pitchFamily="34" charset="0"/>
                <a:ea typeface="Calibri" pitchFamily="34" charset="-122"/>
                <a:cs typeface="Calibri" pitchFamily="34" charset="-120"/>
              </a:rPr>
              <a:t>Gulfton and Kashmere are inland, no waterway. Ultrasonic sensor points down from a light pole and measures street ponding. NYC FloodNet model, a few hundred dollars each.</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10896"/>
            <a:ext cx="11155680" cy="548640"/>
          </a:xfrm>
          <a:prstGeom prst="rect">
            <a:avLst/>
          </a:prstGeom>
          <a:noFill/>
          <a:ln/>
        </p:spPr>
        <p:txBody>
          <a:bodyPr wrap="square" lIns="0" tIns="0" rIns="0" bIns="0" rtlCol="0" anchor="ctr"/>
          <a:lstStyle/>
          <a:p>
            <a:pPr marL="0" indent="0">
              <a:buNone/>
            </a:pPr>
            <a:r>
              <a:rPr lang="en-US" sz="2500" b="1" dirty="0">
                <a:solidFill>
                  <a:srgbClr val="0C3D5E"/>
                </a:solidFill>
                <a:latin typeface="Georgia" pitchFamily="34" charset="0"/>
                <a:ea typeface="Georgia" pitchFamily="34" charset="-122"/>
                <a:cs typeface="Georgia" pitchFamily="34" charset="-120"/>
              </a:rPr>
              <a:t>Next Steps: Inside the Clusters</a:t>
            </a:r>
            <a:endParaRPr lang="en-US" sz="2500" dirty="0"/>
          </a:p>
        </p:txBody>
      </p:sp>
      <p:sp>
        <p:nvSpPr>
          <p:cNvPr id="3" name="Text 1"/>
          <p:cNvSpPr/>
          <p:nvPr/>
        </p:nvSpPr>
        <p:spPr>
          <a:xfrm>
            <a:off x="548640" y="859536"/>
            <a:ext cx="11155680" cy="384048"/>
          </a:xfrm>
          <a:prstGeom prst="rect">
            <a:avLst/>
          </a:prstGeom>
          <a:noFill/>
          <a:ln/>
        </p:spPr>
        <p:txBody>
          <a:bodyPr wrap="square" lIns="0" tIns="0" rIns="0" bIns="0" rtlCol="0" anchor="ctr"/>
          <a:lstStyle/>
          <a:p>
            <a:pPr marL="0" indent="0">
              <a:buNone/>
            </a:pPr>
            <a:r>
              <a:rPr lang="en-US" sz="1350" i="1" dirty="0">
                <a:solidFill>
                  <a:srgbClr val="5C6B73"/>
                </a:solidFill>
                <a:latin typeface="Calibri" pitchFamily="34" charset="0"/>
                <a:ea typeface="Calibri" pitchFamily="34" charset="-122"/>
                <a:cs typeface="Calibri" pitchFamily="34" charset="-120"/>
              </a:rPr>
              <a:t>A concrete Houston research plan: from clusters to specific streets and poles</a:t>
            </a:r>
            <a:endParaRPr lang="en-US" sz="1350" dirty="0"/>
          </a:p>
        </p:txBody>
      </p:sp>
      <p:sp>
        <p:nvSpPr>
          <p:cNvPr id="4" name="Rectangle 3"/>
          <p:cNvSpPr/>
          <p:nvPr/>
        </p:nvSpPr>
        <p:spPr>
          <a:xfrm>
            <a:off x="640080" y="1572768"/>
            <a:ext cx="10881360" cy="1115568"/>
          </a:xfrm>
          <a:prstGeom prst="rect">
            <a:avLst/>
          </a:prstGeom>
          <a:solidFill>
            <a:srgbClr val="EEF3F6"/>
          </a:solidFill>
          <a:ln w="10160">
            <a:solidFill>
              <a:srgbClr val="D5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868680" y="1874519"/>
            <a:ext cx="512064" cy="512064"/>
          </a:xfrm>
          <a:prstGeom prst="ellipse">
            <a:avLst/>
          </a:prstGeom>
          <a:solidFill>
            <a:srgbClr val="C77B0A"/>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700" b="1">
                <a:solidFill>
                  <a:srgbClr val="FFFFFF"/>
                </a:solidFill>
                <a:latin typeface="Georgia"/>
              </a:rPr>
              <a:t>1</a:t>
            </a:r>
          </a:p>
        </p:txBody>
      </p:sp>
      <p:sp>
        <p:nvSpPr>
          <p:cNvPr id="6" name="TextBox 5"/>
          <p:cNvSpPr txBox="1"/>
          <p:nvPr/>
        </p:nvSpPr>
        <p:spPr>
          <a:xfrm>
            <a:off x="1572768" y="1572768"/>
            <a:ext cx="3246120" cy="1115568"/>
          </a:xfrm>
          <a:prstGeom prst="rect">
            <a:avLst/>
          </a:prstGeom>
          <a:noFill/>
        </p:spPr>
        <p:txBody>
          <a:bodyPr wrap="square" anchor="ctr">
            <a:spAutoFit/>
          </a:bodyPr>
          <a:lstStyle/>
          <a:p>
            <a:r>
              <a:rPr sz="1350" b="1">
                <a:solidFill>
                  <a:srgbClr val="0C3D5E"/>
                </a:solidFill>
                <a:latin typeface="Calibri"/>
              </a:rPr>
              <a:t>Fine-grain inside each Houston cluster</a:t>
            </a:r>
          </a:p>
        </p:txBody>
      </p:sp>
      <p:sp>
        <p:nvSpPr>
          <p:cNvPr id="7" name="TextBox 6"/>
          <p:cNvSpPr txBox="1"/>
          <p:nvPr/>
        </p:nvSpPr>
        <p:spPr>
          <a:xfrm>
            <a:off x="4937760" y="1627632"/>
            <a:ext cx="6446520" cy="1005840"/>
          </a:xfrm>
          <a:prstGeom prst="rect">
            <a:avLst/>
          </a:prstGeom>
          <a:noFill/>
        </p:spPr>
        <p:txBody>
          <a:bodyPr wrap="square" anchor="ctr">
            <a:spAutoFit/>
          </a:bodyPr>
          <a:lstStyle/>
          <a:p>
            <a:r>
              <a:rPr sz="1080">
                <a:solidFill>
                  <a:srgbClr val="1A2933"/>
                </a:solidFill>
                <a:latin typeface="Calibri"/>
              </a:rPr>
              <a:t>Re-run the scoring at block-group level inside Gulfton, Texas City, East End and Kashmere, then rank streets and intersections using 311 flooding complaints and HCFCD flood history.</a:t>
            </a:r>
          </a:p>
        </p:txBody>
      </p:sp>
      <p:sp>
        <p:nvSpPr>
          <p:cNvPr id="8" name="Rectangle 7"/>
          <p:cNvSpPr/>
          <p:nvPr/>
        </p:nvSpPr>
        <p:spPr>
          <a:xfrm>
            <a:off x="640080" y="2816352"/>
            <a:ext cx="10881360" cy="1115568"/>
          </a:xfrm>
          <a:prstGeom prst="rect">
            <a:avLst/>
          </a:prstGeom>
          <a:solidFill>
            <a:srgbClr val="EEF3F6"/>
          </a:solidFill>
          <a:ln w="10160">
            <a:solidFill>
              <a:srgbClr val="D5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68680" y="3118104"/>
            <a:ext cx="512064" cy="512064"/>
          </a:xfrm>
          <a:prstGeom prst="ellipse">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700" b="1">
                <a:solidFill>
                  <a:srgbClr val="FFFFFF"/>
                </a:solidFill>
                <a:latin typeface="Georgia"/>
              </a:rPr>
              <a:t>2</a:t>
            </a:r>
          </a:p>
        </p:txBody>
      </p:sp>
      <p:sp>
        <p:nvSpPr>
          <p:cNvPr id="10" name="TextBox 9"/>
          <p:cNvSpPr txBox="1"/>
          <p:nvPr/>
        </p:nvSpPr>
        <p:spPr>
          <a:xfrm>
            <a:off x="1572768" y="2816352"/>
            <a:ext cx="3246120" cy="1115568"/>
          </a:xfrm>
          <a:prstGeom prst="rect">
            <a:avLst/>
          </a:prstGeom>
          <a:noFill/>
        </p:spPr>
        <p:txBody>
          <a:bodyPr wrap="square" anchor="ctr">
            <a:spAutoFit/>
          </a:bodyPr>
          <a:lstStyle/>
          <a:p>
            <a:r>
              <a:rPr sz="1350" b="1">
                <a:solidFill>
                  <a:srgbClr val="0C3D5E"/>
                </a:solidFill>
                <a:latin typeface="Calibri"/>
              </a:rPr>
              <a:t>Desktop pre-screen of candidate sites</a:t>
            </a:r>
          </a:p>
        </p:txBody>
      </p:sp>
      <p:sp>
        <p:nvSpPr>
          <p:cNvPr id="11" name="TextBox 10"/>
          <p:cNvSpPr txBox="1"/>
          <p:nvPr/>
        </p:nvSpPr>
        <p:spPr>
          <a:xfrm>
            <a:off x="4937760" y="2871216"/>
            <a:ext cx="6446520" cy="1005840"/>
          </a:xfrm>
          <a:prstGeom prst="rect">
            <a:avLst/>
          </a:prstGeom>
          <a:noFill/>
        </p:spPr>
        <p:txBody>
          <a:bodyPr wrap="square" anchor="ctr">
            <a:spAutoFit/>
          </a:bodyPr>
          <a:lstStyle/>
          <a:p>
            <a:r>
              <a:rPr sz="1080">
                <a:solidFill>
                  <a:srgbClr val="1A2933"/>
                </a:solidFill>
                <a:latin typeface="Calibri"/>
              </a:rPr>
              <a:t>For the top blocks, use Street View plus drainage records to shortlist 3 to 5 exact light poles or bridges per cluster, checking pole ownership (CenterPoint, TxDOT, HCFCD) and cellular signal.</a:t>
            </a:r>
          </a:p>
        </p:txBody>
      </p:sp>
      <p:sp>
        <p:nvSpPr>
          <p:cNvPr id="12" name="Rectangle 11"/>
          <p:cNvSpPr/>
          <p:nvPr/>
        </p:nvSpPr>
        <p:spPr>
          <a:xfrm>
            <a:off x="640080" y="4059936"/>
            <a:ext cx="10881360" cy="1115568"/>
          </a:xfrm>
          <a:prstGeom prst="rect">
            <a:avLst/>
          </a:prstGeom>
          <a:solidFill>
            <a:srgbClr val="EEF3F6"/>
          </a:solidFill>
          <a:ln w="10160">
            <a:solidFill>
              <a:srgbClr val="D5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68680" y="4361688"/>
            <a:ext cx="512064" cy="512064"/>
          </a:xfrm>
          <a:prstGeom prst="ellipse">
            <a:avLst/>
          </a:prstGeom>
          <a:solidFill>
            <a:srgbClr val="2E6B3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700" b="1">
                <a:solidFill>
                  <a:srgbClr val="FFFFFF"/>
                </a:solidFill>
                <a:latin typeface="Georgia"/>
              </a:rPr>
              <a:t>3</a:t>
            </a:r>
          </a:p>
        </p:txBody>
      </p:sp>
      <p:sp>
        <p:nvSpPr>
          <p:cNvPr id="14" name="TextBox 13"/>
          <p:cNvSpPr txBox="1"/>
          <p:nvPr/>
        </p:nvSpPr>
        <p:spPr>
          <a:xfrm>
            <a:off x="1572768" y="4059936"/>
            <a:ext cx="3246120" cy="1115568"/>
          </a:xfrm>
          <a:prstGeom prst="rect">
            <a:avLst/>
          </a:prstGeom>
          <a:noFill/>
        </p:spPr>
        <p:txBody>
          <a:bodyPr wrap="square" anchor="ctr">
            <a:spAutoFit/>
          </a:bodyPr>
          <a:lstStyle/>
          <a:p>
            <a:r>
              <a:rPr sz="1350" b="1">
                <a:solidFill>
                  <a:srgbClr val="0C3D5E"/>
                </a:solidFill>
                <a:latin typeface="Calibri"/>
              </a:rPr>
              <a:t>Field reconnaissance in Houston</a:t>
            </a:r>
          </a:p>
        </p:txBody>
      </p:sp>
      <p:sp>
        <p:nvSpPr>
          <p:cNvPr id="15" name="TextBox 14"/>
          <p:cNvSpPr txBox="1"/>
          <p:nvPr/>
        </p:nvSpPr>
        <p:spPr>
          <a:xfrm>
            <a:off x="4937760" y="4114800"/>
            <a:ext cx="6446520" cy="1005840"/>
          </a:xfrm>
          <a:prstGeom prst="rect">
            <a:avLst/>
          </a:prstGeom>
          <a:noFill/>
        </p:spPr>
        <p:txBody>
          <a:bodyPr wrap="square" anchor="ctr">
            <a:spAutoFit/>
          </a:bodyPr>
          <a:lstStyle/>
          <a:p>
            <a:r>
              <a:rPr sz="1080">
                <a:solidFill>
                  <a:srgbClr val="1A2933"/>
                </a:solidFill>
                <a:latin typeface="Calibri"/>
              </a:rPr>
              <a:t>Visit the shortlisted sites with a structured checklist: street low points, stain lines, storm inlets, mounting structures. Site survey is my day job as a landscape architect.</a:t>
            </a:r>
          </a:p>
        </p:txBody>
      </p:sp>
      <p:sp>
        <p:nvSpPr>
          <p:cNvPr id="16" name="Rectangle 15"/>
          <p:cNvSpPr/>
          <p:nvPr/>
        </p:nvSpPr>
        <p:spPr>
          <a:xfrm>
            <a:off x="640080" y="5303520"/>
            <a:ext cx="10881360" cy="1115568"/>
          </a:xfrm>
          <a:prstGeom prst="rect">
            <a:avLst/>
          </a:prstGeom>
          <a:solidFill>
            <a:srgbClr val="EEF3F6"/>
          </a:solidFill>
          <a:ln w="10160">
            <a:solidFill>
              <a:srgbClr val="D5E0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868680" y="5605272"/>
            <a:ext cx="512064" cy="512064"/>
          </a:xfrm>
          <a:prstGeom prst="ellipse">
            <a:avLst/>
          </a:prstGeom>
          <a:solidFill>
            <a:srgbClr val="B5532E"/>
          </a:solidFill>
          <a:ln>
            <a:noFill/>
          </a:ln>
          <a:effectLst/>
        </p:spPr>
        <p:style>
          <a:lnRef idx="1">
            <a:schemeClr val="accent1"/>
          </a:lnRef>
          <a:fillRef idx="3">
            <a:schemeClr val="accent1"/>
          </a:fillRef>
          <a:effectRef idx="2">
            <a:schemeClr val="accent1"/>
          </a:effectRef>
          <a:fontRef idx="minor">
            <a:schemeClr val="lt1"/>
          </a:fontRef>
        </p:style>
        <p:txBody>
          <a:bodyPr wrap="none" rtlCol="0" anchor="ctr"/>
          <a:lstStyle/>
          <a:p>
            <a:pPr algn="ctr"/>
            <a:r>
              <a:rPr sz="1700" b="1">
                <a:solidFill>
                  <a:srgbClr val="FFFFFF"/>
                </a:solidFill>
                <a:latin typeface="Georgia"/>
              </a:rPr>
              <a:t>4</a:t>
            </a:r>
          </a:p>
        </p:txBody>
      </p:sp>
      <p:sp>
        <p:nvSpPr>
          <p:cNvPr id="18" name="TextBox 17"/>
          <p:cNvSpPr txBox="1"/>
          <p:nvPr/>
        </p:nvSpPr>
        <p:spPr>
          <a:xfrm>
            <a:off x="1572768" y="5303520"/>
            <a:ext cx="3246120" cy="1115568"/>
          </a:xfrm>
          <a:prstGeom prst="rect">
            <a:avLst/>
          </a:prstGeom>
          <a:noFill/>
        </p:spPr>
        <p:txBody>
          <a:bodyPr wrap="square" anchor="ctr">
            <a:spAutoFit/>
          </a:bodyPr>
          <a:lstStyle/>
          <a:p>
            <a:r>
              <a:rPr sz="1350" b="1">
                <a:solidFill>
                  <a:srgbClr val="0C3D5E"/>
                </a:solidFill>
                <a:latin typeface="Calibri"/>
              </a:rPr>
              <a:t>Test against known gaps</a:t>
            </a:r>
          </a:p>
        </p:txBody>
      </p:sp>
      <p:sp>
        <p:nvSpPr>
          <p:cNvPr id="19" name="TextBox 18"/>
          <p:cNvSpPr txBox="1"/>
          <p:nvPr/>
        </p:nvSpPr>
        <p:spPr>
          <a:xfrm>
            <a:off x="4937760" y="5358384"/>
            <a:ext cx="6446520" cy="1005840"/>
          </a:xfrm>
          <a:prstGeom prst="rect">
            <a:avLst/>
          </a:prstGeom>
          <a:noFill/>
        </p:spPr>
        <p:txBody>
          <a:bodyPr wrap="square" anchor="ctr">
            <a:spAutoFit/>
          </a:bodyPr>
          <a:lstStyle/>
          <a:p>
            <a:r>
              <a:rPr sz="1080">
                <a:solidFill>
                  <a:srgbClr val="1A2933"/>
                </a:solidFill>
                <a:latin typeface="Calibri"/>
              </a:rPr>
              <a:t>Compare model picks with areas the team wanted to monitor but could not install in, and share results with Houston emergency management for real-world feedback.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0C3D5E"/>
        </a:solidFill>
        <a:effectLst/>
      </p:bgPr>
    </p:bg>
    <p:spTree>
      <p:nvGrpSpPr>
        <p:cNvPr id="1" name=""/>
        <p:cNvGrpSpPr/>
        <p:nvPr/>
      </p:nvGrpSpPr>
      <p:grpSpPr>
        <a:xfrm>
          <a:off x="0" y="0"/>
          <a:ext cx="0" cy="0"/>
          <a:chOff x="0" y="0"/>
          <a:chExt cx="0" cy="0"/>
        </a:xfrm>
      </p:grpSpPr>
      <p:sp>
        <p:nvSpPr>
          <p:cNvPr id="2" name="Text 0"/>
          <p:cNvSpPr/>
          <p:nvPr/>
        </p:nvSpPr>
        <p:spPr>
          <a:xfrm>
            <a:off x="822960" y="1371600"/>
            <a:ext cx="10515600" cy="640080"/>
          </a:xfrm>
          <a:prstGeom prst="rect">
            <a:avLst/>
          </a:prstGeom>
          <a:noFill/>
          <a:ln/>
        </p:spPr>
        <p:txBody>
          <a:bodyPr wrap="square" lIns="0" tIns="0" rIns="0" bIns="0" rtlCol="0" anchor="ctr"/>
          <a:lstStyle/>
          <a:p>
            <a:pPr marL="0" indent="0">
              <a:buNone/>
            </a:pPr>
            <a:r>
              <a:rPr lang="en-US" sz="3000" b="1" dirty="0">
                <a:solidFill>
                  <a:srgbClr val="FFFFFF"/>
                </a:solidFill>
                <a:latin typeface="Georgia" pitchFamily="34" charset="0"/>
                <a:ea typeface="Georgia" pitchFamily="34" charset="-122"/>
                <a:cs typeface="Georgia" pitchFamily="34" charset="-120"/>
              </a:rPr>
              <a:t>The Bigger Picture</a:t>
            </a:r>
            <a:endParaRPr lang="en-US" sz="3000" dirty="0"/>
          </a:p>
        </p:txBody>
      </p:sp>
      <p:sp>
        <p:nvSpPr>
          <p:cNvPr id="3" name="Text 1"/>
          <p:cNvSpPr/>
          <p:nvPr/>
        </p:nvSpPr>
        <p:spPr>
          <a:xfrm>
            <a:off x="822960" y="2148840"/>
            <a:ext cx="10515600" cy="548640"/>
          </a:xfrm>
          <a:prstGeom prst="rect">
            <a:avLst/>
          </a:prstGeom>
          <a:noFill/>
          <a:ln/>
        </p:spPr>
        <p:txBody>
          <a:bodyPr wrap="square" lIns="0" tIns="0" rIns="0" bIns="0" rtlCol="0" anchor="ctr"/>
          <a:lstStyle/>
          <a:p>
            <a:pPr marL="0" indent="0">
              <a:buNone/>
            </a:pPr>
            <a:r>
              <a:rPr lang="en-US" sz="1700" dirty="0">
                <a:solidFill>
                  <a:srgbClr val="7FC3DD"/>
                </a:solidFill>
                <a:latin typeface="Georgia" pitchFamily="34" charset="0"/>
                <a:ea typeface="Georgia" pitchFamily="34" charset="-122"/>
                <a:cs typeface="Georgia" pitchFamily="34" charset="-120"/>
              </a:rPr>
              <a:t>A transferable way to find the places that need protection most</a:t>
            </a:r>
            <a:endParaRPr lang="en-US" sz="1700" dirty="0"/>
          </a:p>
        </p:txBody>
      </p:sp>
      <p:sp>
        <p:nvSpPr>
          <p:cNvPr id="4" name="Text 2"/>
          <p:cNvSpPr/>
          <p:nvPr/>
        </p:nvSpPr>
        <p:spPr>
          <a:xfrm>
            <a:off x="822960" y="2926080"/>
            <a:ext cx="10424160" cy="2926080"/>
          </a:xfrm>
          <a:prstGeom prst="rect">
            <a:avLst/>
          </a:prstGeom>
          <a:noFill/>
          <a:ln/>
        </p:spPr>
        <p:txBody>
          <a:bodyPr wrap="square" lIns="0" tIns="0" rIns="0" bIns="0" rtlCol="0" anchor="t"/>
          <a:lstStyle/>
          <a:p>
            <a:pPr marL="0" indent="0">
              <a:lnSpc>
                <a:spcPct val="120000"/>
              </a:lnSpc>
              <a:spcAft>
                <a:spcPts val="1400"/>
              </a:spcAft>
              <a:buNone/>
            </a:pPr>
            <a:r>
              <a:rPr lang="en-US" sz="1550" dirty="0">
                <a:solidFill>
                  <a:srgbClr val="FFFFFF"/>
                </a:solidFill>
                <a:latin typeface="Calibri" pitchFamily="34" charset="0"/>
                <a:ea typeface="Calibri" pitchFamily="34" charset="-122"/>
                <a:cs typeface="Calibri" pitchFamily="34" charset="-120"/>
              </a:rPr>
              <a:t>This cluster-finding method isn't Houston-specific. Point it at Florida, or any coastal region, and it can surface the most at-risk counties and communities under any set of priorities.</a:t>
            </a:r>
            <a:endParaRPr lang="en-US" sz="1550" dirty="0"/>
          </a:p>
          <a:p>
            <a:pPr marL="0" indent="0">
              <a:lnSpc>
                <a:spcPct val="120000"/>
              </a:lnSpc>
              <a:spcAft>
                <a:spcPts val="1400"/>
              </a:spcAft>
              <a:buNone/>
            </a:pPr>
            <a:r>
              <a:rPr lang="en-US" sz="1550" dirty="0">
                <a:solidFill>
                  <a:srgbClr val="FFFFFF"/>
                </a:solidFill>
                <a:latin typeface="Calibri" pitchFamily="34" charset="0"/>
                <a:ea typeface="Calibri" pitchFamily="34" charset="-122"/>
                <a:cs typeface="Calibri" pitchFamily="34" charset="-120"/>
              </a:rPr>
              <a:t>For students, nonprofits, and agencies, that means quickly understanding a huge region: where to look first, where to protect first, where to measure first.</a:t>
            </a:r>
            <a:endParaRPr lang="en-US" sz="1550" dirty="0"/>
          </a:p>
          <a:p>
            <a:pPr marL="0" indent="0">
              <a:lnSpc>
                <a:spcPct val="120000"/>
              </a:lnSpc>
              <a:buNone/>
            </a:pPr>
            <a:r>
              <a:rPr lang="en-US" sz="1550" b="1" i="1" dirty="0">
                <a:solidFill>
                  <a:srgbClr val="F0CF8E"/>
                </a:solidFill>
                <a:latin typeface="Calibri" pitchFamily="34" charset="0"/>
                <a:ea typeface="Calibri" pitchFamily="34" charset="-122"/>
                <a:cs typeface="Calibri" pitchFamily="34" charset="-120"/>
              </a:rPr>
              <a:t>From one city's sensor question to a reusable screening tool. That is the bigger research direction.</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0C3D5E"/>
        </a:solidFill>
        <a:effectLst/>
      </p:bgPr>
    </p:bg>
    <p:spTree>
      <p:nvGrpSpPr>
        <p:cNvPr id="1" name=""/>
        <p:cNvGrpSpPr/>
        <p:nvPr/>
      </p:nvGrpSpPr>
      <p:grpSpPr>
        <a:xfrm>
          <a:off x="0" y="0"/>
          <a:ext cx="0" cy="0"/>
          <a:chOff x="0" y="0"/>
          <a:chExt cx="0" cy="0"/>
        </a:xfrm>
      </p:grpSpPr>
      <p:sp>
        <p:nvSpPr>
          <p:cNvPr id="2" name="Text 0"/>
          <p:cNvSpPr/>
          <p:nvPr/>
        </p:nvSpPr>
        <p:spPr>
          <a:xfrm>
            <a:off x="822960" y="1828800"/>
            <a:ext cx="10515600" cy="82296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FloodGap</a:t>
            </a:r>
            <a:endParaRPr lang="en-US" sz="4400" dirty="0"/>
          </a:p>
        </p:txBody>
      </p:sp>
      <p:sp>
        <p:nvSpPr>
          <p:cNvPr id="3" name="Text 1"/>
          <p:cNvSpPr/>
          <p:nvPr/>
        </p:nvSpPr>
        <p:spPr>
          <a:xfrm>
            <a:off x="822960" y="2788920"/>
            <a:ext cx="10241280" cy="640080"/>
          </a:xfrm>
          <a:prstGeom prst="rect">
            <a:avLst/>
          </a:prstGeom>
          <a:noFill/>
          <a:ln/>
        </p:spPr>
        <p:txBody>
          <a:bodyPr wrap="square" lIns="0" tIns="0" rIns="0" bIns="0" rtlCol="0" anchor="ctr"/>
          <a:lstStyle/>
          <a:p>
            <a:pPr marL="0" indent="0">
              <a:buNone/>
            </a:pPr>
            <a:r>
              <a:rPr lang="en-US" sz="1800" dirty="0">
                <a:solidFill>
                  <a:srgbClr val="C9DCE6"/>
                </a:solidFill>
                <a:latin typeface="Georgia" pitchFamily="34" charset="0"/>
                <a:ea typeface="Georgia" pitchFamily="34" charset="-122"/>
                <a:cs typeface="Georgia" pitchFamily="34" charset="-120"/>
              </a:rPr>
              <a:t>The gap between where sensors are, and where they should be.</a:t>
            </a:r>
            <a:endParaRPr lang="en-US" sz="1800" dirty="0"/>
          </a:p>
        </p:txBody>
      </p:sp>
      <p:sp>
        <p:nvSpPr>
          <p:cNvPr id="4" name="Shape 2"/>
          <p:cNvSpPr/>
          <p:nvPr/>
        </p:nvSpPr>
        <p:spPr>
          <a:xfrm>
            <a:off x="868680" y="3749040"/>
            <a:ext cx="2011680" cy="0"/>
          </a:xfrm>
          <a:prstGeom prst="line">
            <a:avLst/>
          </a:prstGeom>
          <a:noFill/>
          <a:ln w="31750">
            <a:solidFill>
              <a:srgbClr val="C77B0A"/>
            </a:solidFill>
            <a:prstDash val="solid"/>
          </a:ln>
        </p:spPr>
        <p:txBody>
          <a:bodyPr/>
          <a:lstStyle/>
          <a:p>
            <a:endParaRPr lang="en-US"/>
          </a:p>
        </p:txBody>
      </p:sp>
      <p:sp>
        <p:nvSpPr>
          <p:cNvPr id="5" name="Text 3"/>
          <p:cNvSpPr/>
          <p:nvPr/>
        </p:nvSpPr>
        <p:spPr>
          <a:xfrm>
            <a:off x="822960" y="3977640"/>
            <a:ext cx="10058400" cy="548640"/>
          </a:xfrm>
          <a:prstGeom prst="rect">
            <a:avLst/>
          </a:prstGeom>
          <a:noFill/>
          <a:ln/>
        </p:spPr>
        <p:txBody>
          <a:bodyPr wrap="square" lIns="0" tIns="0" rIns="0" bIns="0" rtlCol="0" anchor="ctr"/>
          <a:lstStyle/>
          <a:p>
            <a:pPr marL="0" indent="0">
              <a:buNone/>
            </a:pPr>
            <a:r>
              <a:rPr lang="en-US" sz="1900" b="1" dirty="0">
                <a:solidFill>
                  <a:srgbClr val="F0CF8E"/>
                </a:solidFill>
                <a:latin typeface="Georgia" pitchFamily="34" charset="0"/>
                <a:ea typeface="Georgia" pitchFamily="34" charset="-122"/>
                <a:cs typeface="Georgia" pitchFamily="34" charset="-120"/>
              </a:rPr>
              <a:t>Thank you</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264</TotalTime>
  <Words>2616</Words>
  <Application>Microsoft Office PowerPoint</Application>
  <PresentationFormat>Widescreen</PresentationFormat>
  <Paragraphs>181</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Can Sun</cp:lastModifiedBy>
  <cp:revision>3</cp:revision>
  <dcterms:created xsi:type="dcterms:W3CDTF">2026-08-04T03:27:37Z</dcterms:created>
  <dcterms:modified xsi:type="dcterms:W3CDTF">2026-08-05T00:21:10Z</dcterms:modified>
</cp:coreProperties>
</file>